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8" r:id="rId4"/>
    <p:sldId id="269" r:id="rId5"/>
    <p:sldId id="257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F89ED"/>
    <a:srgbClr val="6CE4B4"/>
    <a:srgbClr val="FFAC7A"/>
    <a:srgbClr val="3FA2F7"/>
    <a:srgbClr val="F26C73"/>
    <a:srgbClr val="5B4F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 showGuides="1">
      <p:cViewPr varScale="1">
        <p:scale>
          <a:sx n="90" d="100"/>
          <a:sy n="90" d="100"/>
        </p:scale>
        <p:origin x="480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474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804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445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30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311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390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677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917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753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747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2239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11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r4ds.hadley.nz/" TargetMode="External"/><Relationship Id="rId3" Type="http://schemas.openxmlformats.org/officeDocument/2006/relationships/hyperlink" Target="https://posit.co/download/rstudio-desktop/" TargetMode="External"/><Relationship Id="rId7" Type="http://schemas.openxmlformats.org/officeDocument/2006/relationships/hyperlink" Target="https://posit.co/wp-content/uploads/2022/10/data-visualization-1.pdf" TargetMode="External"/><Relationship Id="rId2" Type="http://schemas.openxmlformats.org/officeDocument/2006/relationships/hyperlink" Target="https://cran.r-project.org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gplot2.tidyverse.org/articles/ggplot2.html" TargetMode="External"/><Relationship Id="rId5" Type="http://schemas.openxmlformats.org/officeDocument/2006/relationships/hyperlink" Target="https://www.data-to-viz.com/" TargetMode="External"/><Relationship Id="rId4" Type="http://schemas.openxmlformats.org/officeDocument/2006/relationships/hyperlink" Target="https://r-graph-gallery.com/" TargetMode="External"/><Relationship Id="rId9" Type="http://schemas.openxmlformats.org/officeDocument/2006/relationships/hyperlink" Target="https://socviz.c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 descr="Vector background of vibrant colors splashing">
            <a:extLst>
              <a:ext uri="{FF2B5EF4-FFF2-40B4-BE49-F238E27FC236}">
                <a16:creationId xmlns:a16="http://schemas.microsoft.com/office/drawing/2014/main" id="{0646C3D3-CB90-89FC-37C2-B12F50ECC2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280"/>
          <a:stretch>
            <a:fillRect/>
          </a:stretch>
        </p:blipFill>
        <p:spPr>
          <a:xfrm>
            <a:off x="1" y="6495"/>
            <a:ext cx="1219200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6136311-C81B-47C5-AE0A-5641A5A59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4444" y="1066800"/>
            <a:ext cx="4682990" cy="4724400"/>
          </a:xfrm>
          <a:prstGeom prst="rect">
            <a:avLst/>
          </a:prstGeom>
          <a:solidFill>
            <a:schemeClr val="bg1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DB73F9-35C6-F412-5149-B0859E66B8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791" y="1324945"/>
            <a:ext cx="4379148" cy="2990191"/>
          </a:xfrm>
        </p:spPr>
        <p:txBody>
          <a:bodyPr anchor="t">
            <a:normAutofit/>
          </a:bodyPr>
          <a:lstStyle/>
          <a:p>
            <a:r>
              <a:rPr lang="en-US" sz="4400" dirty="0"/>
              <a:t>Data wrangling and visualization with 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CF27AB-0B7E-E257-9469-ACD754A69C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521" y="4321621"/>
            <a:ext cx="4155357" cy="1053819"/>
          </a:xfrm>
        </p:spPr>
        <p:txBody>
          <a:bodyPr>
            <a:normAutofit fontScale="92500"/>
          </a:bodyPr>
          <a:lstStyle/>
          <a:p>
            <a:r>
              <a:rPr lang="en-US" dirty="0"/>
              <a:t>Carolina M. Siniscalchi</a:t>
            </a:r>
          </a:p>
          <a:p>
            <a:r>
              <a:rPr lang="en-US" dirty="0"/>
              <a:t>Data science coordinator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C73A33-65FF-41A9-A3B0-006753CD1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0800000" flipV="1">
            <a:off x="305077" y="1063752"/>
            <a:ext cx="0" cy="4727448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9A4E9B9-B7CD-913F-38A4-50326EF2E6B9}"/>
              </a:ext>
            </a:extLst>
          </p:cNvPr>
          <p:cNvSpPr/>
          <p:nvPr/>
        </p:nvSpPr>
        <p:spPr>
          <a:xfrm>
            <a:off x="-732677" y="1498060"/>
            <a:ext cx="590144" cy="596630"/>
          </a:xfrm>
          <a:prstGeom prst="ellipse">
            <a:avLst/>
          </a:prstGeom>
          <a:solidFill>
            <a:srgbClr val="9F89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CDFBE77-9EE7-9A3F-61E4-0C907D1799A1}"/>
              </a:ext>
            </a:extLst>
          </p:cNvPr>
          <p:cNvSpPr/>
          <p:nvPr/>
        </p:nvSpPr>
        <p:spPr>
          <a:xfrm>
            <a:off x="-658099" y="2487038"/>
            <a:ext cx="590144" cy="596630"/>
          </a:xfrm>
          <a:prstGeom prst="ellipse">
            <a:avLst/>
          </a:prstGeom>
          <a:solidFill>
            <a:srgbClr val="F26C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D5E9558-77D0-294B-4973-8064D6D2E3F7}"/>
              </a:ext>
            </a:extLst>
          </p:cNvPr>
          <p:cNvSpPr/>
          <p:nvPr/>
        </p:nvSpPr>
        <p:spPr>
          <a:xfrm>
            <a:off x="-651337" y="3887822"/>
            <a:ext cx="590144" cy="596630"/>
          </a:xfrm>
          <a:prstGeom prst="ellipse">
            <a:avLst/>
          </a:prstGeom>
          <a:solidFill>
            <a:srgbClr val="FFAC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D495148-1BC2-EAD3-A2C3-508D3FF43477}"/>
              </a:ext>
            </a:extLst>
          </p:cNvPr>
          <p:cNvSpPr/>
          <p:nvPr/>
        </p:nvSpPr>
        <p:spPr>
          <a:xfrm>
            <a:off x="-658099" y="5158201"/>
            <a:ext cx="590144" cy="596630"/>
          </a:xfrm>
          <a:prstGeom prst="ellipse">
            <a:avLst/>
          </a:prstGeom>
          <a:solidFill>
            <a:srgbClr val="6CE4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6135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C82F8-4830-1C7D-CDF9-E7DA2D27C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30AE9CC6-7130-CBB9-EE98-476BF672CC1E}"/>
              </a:ext>
            </a:extLst>
          </p:cNvPr>
          <p:cNvSpPr/>
          <p:nvPr/>
        </p:nvSpPr>
        <p:spPr>
          <a:xfrm>
            <a:off x="11561186" y="58366"/>
            <a:ext cx="590144" cy="596630"/>
          </a:xfrm>
          <a:prstGeom prst="ellipse">
            <a:avLst/>
          </a:prstGeom>
          <a:solidFill>
            <a:srgbClr val="9F89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ECB409F-9307-445B-823F-956234A4628A}"/>
              </a:ext>
            </a:extLst>
          </p:cNvPr>
          <p:cNvSpPr/>
          <p:nvPr/>
        </p:nvSpPr>
        <p:spPr>
          <a:xfrm>
            <a:off x="11561186" y="716603"/>
            <a:ext cx="590144" cy="596630"/>
          </a:xfrm>
          <a:prstGeom prst="ellipse">
            <a:avLst/>
          </a:prstGeom>
          <a:solidFill>
            <a:srgbClr val="F26C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B43C9B7-7074-E150-FA2A-3CD979855AF1}"/>
              </a:ext>
            </a:extLst>
          </p:cNvPr>
          <p:cNvSpPr/>
          <p:nvPr/>
        </p:nvSpPr>
        <p:spPr>
          <a:xfrm>
            <a:off x="11561186" y="1374840"/>
            <a:ext cx="590144" cy="596630"/>
          </a:xfrm>
          <a:prstGeom prst="ellipse">
            <a:avLst/>
          </a:prstGeom>
          <a:solidFill>
            <a:srgbClr val="3FA2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EC7F056-1581-50F7-72E3-02BDE047309F}"/>
              </a:ext>
            </a:extLst>
          </p:cNvPr>
          <p:cNvSpPr/>
          <p:nvPr/>
        </p:nvSpPr>
        <p:spPr>
          <a:xfrm>
            <a:off x="11561186" y="2033077"/>
            <a:ext cx="590144" cy="596630"/>
          </a:xfrm>
          <a:prstGeom prst="ellipse">
            <a:avLst/>
          </a:prstGeom>
          <a:solidFill>
            <a:srgbClr val="FFAC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AF446B0-779B-F9A4-B52D-3BA7F7941F1D}"/>
              </a:ext>
            </a:extLst>
          </p:cNvPr>
          <p:cNvSpPr/>
          <p:nvPr/>
        </p:nvSpPr>
        <p:spPr>
          <a:xfrm>
            <a:off x="11561186" y="2691314"/>
            <a:ext cx="590144" cy="596630"/>
          </a:xfrm>
          <a:prstGeom prst="ellipse">
            <a:avLst/>
          </a:prstGeom>
          <a:solidFill>
            <a:srgbClr val="6CE4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33B9E7-A110-E89F-34E9-B22DB0DDC904}"/>
              </a:ext>
            </a:extLst>
          </p:cNvPr>
          <p:cNvSpPr txBox="1"/>
          <p:nvPr/>
        </p:nvSpPr>
        <p:spPr>
          <a:xfrm>
            <a:off x="181584" y="131828"/>
            <a:ext cx="28520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5B4FBB"/>
                </a:solidFill>
              </a:rPr>
              <a:t>The </a:t>
            </a:r>
            <a:r>
              <a:rPr lang="en-US" sz="3600" b="1" dirty="0" err="1">
                <a:solidFill>
                  <a:srgbClr val="5B4FBB"/>
                </a:solidFill>
              </a:rPr>
              <a:t>tidyverse</a:t>
            </a:r>
            <a:endParaRPr lang="en-US" sz="3600" b="1" dirty="0">
              <a:solidFill>
                <a:srgbClr val="5B4FBB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EE9BFA-5C87-9D58-785A-A00011B757A1}"/>
              </a:ext>
            </a:extLst>
          </p:cNvPr>
          <p:cNvSpPr txBox="1"/>
          <p:nvPr/>
        </p:nvSpPr>
        <p:spPr>
          <a:xfrm>
            <a:off x="408561" y="1408062"/>
            <a:ext cx="996112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400" dirty="0"/>
              <a:t>A collection of packages for data science that share an underlying design philosophy, grammar, and data structures</a:t>
            </a:r>
          </a:p>
          <a:p>
            <a:pPr marL="342900" indent="-342900">
              <a:buFontTx/>
              <a:buChar char="-"/>
            </a:pPr>
            <a:endParaRPr lang="en-US" sz="2400" dirty="0"/>
          </a:p>
          <a:p>
            <a:pPr marL="342900" indent="-342900">
              <a:buFontTx/>
              <a:buChar char="-"/>
            </a:pPr>
            <a:r>
              <a:rPr lang="en-US" sz="2400" dirty="0"/>
              <a:t>Based on the principle of tidy data: </a:t>
            </a:r>
          </a:p>
          <a:p>
            <a:pPr marL="800100" lvl="1" indent="-342900">
              <a:buFontTx/>
              <a:buChar char="-"/>
            </a:pPr>
            <a:r>
              <a:rPr lang="en-US" sz="2400" dirty="0"/>
              <a:t>One variable per column</a:t>
            </a:r>
          </a:p>
          <a:p>
            <a:pPr marL="800100" lvl="1" indent="-342900">
              <a:buFontTx/>
              <a:buChar char="-"/>
            </a:pPr>
            <a:r>
              <a:rPr lang="en-US" sz="2400" dirty="0"/>
              <a:t>One observation per row</a:t>
            </a:r>
          </a:p>
          <a:p>
            <a:pPr marL="800100" lvl="1" indent="-342900">
              <a:buFontTx/>
              <a:buChar char="-"/>
            </a:pPr>
            <a:r>
              <a:rPr lang="en-US" sz="2400" dirty="0"/>
              <a:t>One value per cell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31F0F5-457E-CCBD-3390-7E59ABDE4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2618" y="4228294"/>
            <a:ext cx="2093342" cy="24178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12BB3A1-0288-7D15-388C-70CFEFBE1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07" y="4551316"/>
            <a:ext cx="7204877" cy="196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844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6557D-2396-ED1D-F463-BE95F011A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FA45C0A-7B69-93B0-7F69-A249AFE4DEE7}"/>
              </a:ext>
            </a:extLst>
          </p:cNvPr>
          <p:cNvSpPr/>
          <p:nvPr/>
        </p:nvSpPr>
        <p:spPr>
          <a:xfrm>
            <a:off x="11561186" y="58366"/>
            <a:ext cx="590144" cy="596630"/>
          </a:xfrm>
          <a:prstGeom prst="ellipse">
            <a:avLst/>
          </a:prstGeom>
          <a:solidFill>
            <a:srgbClr val="9F89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E7DCC15-C763-81A9-71FD-53C4E9590AD4}"/>
              </a:ext>
            </a:extLst>
          </p:cNvPr>
          <p:cNvSpPr/>
          <p:nvPr/>
        </p:nvSpPr>
        <p:spPr>
          <a:xfrm>
            <a:off x="11561186" y="716603"/>
            <a:ext cx="590144" cy="596630"/>
          </a:xfrm>
          <a:prstGeom prst="ellipse">
            <a:avLst/>
          </a:prstGeom>
          <a:solidFill>
            <a:srgbClr val="F26C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5AF7F9A-BB7A-9891-9BAC-C55ADD3FAAE5}"/>
              </a:ext>
            </a:extLst>
          </p:cNvPr>
          <p:cNvSpPr/>
          <p:nvPr/>
        </p:nvSpPr>
        <p:spPr>
          <a:xfrm>
            <a:off x="11561186" y="1374840"/>
            <a:ext cx="590144" cy="596630"/>
          </a:xfrm>
          <a:prstGeom prst="ellipse">
            <a:avLst/>
          </a:prstGeom>
          <a:solidFill>
            <a:srgbClr val="3FA2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7FB8AF5-220C-029D-7D95-3EB4113DA6F8}"/>
              </a:ext>
            </a:extLst>
          </p:cNvPr>
          <p:cNvSpPr/>
          <p:nvPr/>
        </p:nvSpPr>
        <p:spPr>
          <a:xfrm>
            <a:off x="11561186" y="2033077"/>
            <a:ext cx="590144" cy="596630"/>
          </a:xfrm>
          <a:prstGeom prst="ellipse">
            <a:avLst/>
          </a:prstGeom>
          <a:solidFill>
            <a:srgbClr val="FFAC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1DE4016-86B1-0621-AE5A-5CE5A3797462}"/>
              </a:ext>
            </a:extLst>
          </p:cNvPr>
          <p:cNvSpPr/>
          <p:nvPr/>
        </p:nvSpPr>
        <p:spPr>
          <a:xfrm>
            <a:off x="11561186" y="2691314"/>
            <a:ext cx="590144" cy="596630"/>
          </a:xfrm>
          <a:prstGeom prst="ellipse">
            <a:avLst/>
          </a:prstGeom>
          <a:solidFill>
            <a:srgbClr val="6CE4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75BEBE-EAAE-40EB-E50E-84CED2308A39}"/>
              </a:ext>
            </a:extLst>
          </p:cNvPr>
          <p:cNvSpPr txBox="1"/>
          <p:nvPr/>
        </p:nvSpPr>
        <p:spPr>
          <a:xfrm>
            <a:off x="181584" y="131828"/>
            <a:ext cx="32207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5B4FBB"/>
                </a:solidFill>
              </a:rPr>
              <a:t>Data wrangling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6AB99A-25C1-5D2A-3CB2-304578005627}"/>
              </a:ext>
            </a:extLst>
          </p:cNvPr>
          <p:cNvSpPr txBox="1"/>
          <p:nvPr/>
        </p:nvSpPr>
        <p:spPr>
          <a:xfrm>
            <a:off x="286097" y="1313233"/>
            <a:ext cx="996112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400" dirty="0"/>
              <a:t>Data wrangling is the process of getting your data into a useful form for visualization, summary, and modeling</a:t>
            </a:r>
          </a:p>
          <a:p>
            <a:pPr marL="342900" indent="-342900">
              <a:buFontTx/>
              <a:buChar char="-"/>
            </a:pPr>
            <a:endParaRPr lang="en-US" sz="2400" dirty="0"/>
          </a:p>
          <a:p>
            <a:pPr marL="342900" indent="-342900">
              <a:buFontTx/>
              <a:buChar char="-"/>
            </a:pPr>
            <a:r>
              <a:rPr lang="en-US" sz="2400" dirty="0"/>
              <a:t>Most of the times, data won’t come exactly in the format you need (or it’ll be messy), that’s why we need wrangling</a:t>
            </a:r>
          </a:p>
          <a:p>
            <a:pPr marL="342900" indent="-342900">
              <a:buFontTx/>
              <a:buChar char="-"/>
            </a:pPr>
            <a:endParaRPr lang="en-US" sz="2400" dirty="0"/>
          </a:p>
          <a:p>
            <a:pPr marL="342900" indent="-342900">
              <a:buFontTx/>
              <a:buChar char="-"/>
            </a:pPr>
            <a:r>
              <a:rPr lang="en-US" sz="2400" dirty="0"/>
              <a:t>In the </a:t>
            </a:r>
            <a:r>
              <a:rPr lang="en-US" sz="2400" dirty="0" err="1"/>
              <a:t>tidyverse</a:t>
            </a:r>
            <a:r>
              <a:rPr lang="en-US" sz="2400" dirty="0"/>
              <a:t>, we use functions (or verbs) for specific actions</a:t>
            </a:r>
          </a:p>
          <a:p>
            <a:pPr marL="342900" indent="-342900">
              <a:buFontTx/>
              <a:buChar char="-"/>
            </a:pPr>
            <a:endParaRPr lang="en-US" sz="2400" dirty="0"/>
          </a:p>
          <a:p>
            <a:pPr marL="342900" indent="-342900">
              <a:buFontTx/>
              <a:buChar char="-"/>
            </a:pPr>
            <a:r>
              <a:rPr lang="en-US" sz="2400" dirty="0"/>
              <a:t>These verbs can be chained together using the pipe %&gt;%</a:t>
            </a:r>
          </a:p>
          <a:p>
            <a:pPr marL="342900" indent="-342900">
              <a:buFontTx/>
              <a:buChar char="-"/>
            </a:pPr>
            <a:endParaRPr lang="en-US" sz="2400" dirty="0"/>
          </a:p>
          <a:p>
            <a:pPr marL="342900" indent="-342900">
              <a:buFontTx/>
              <a:buChar char="-"/>
            </a:pPr>
            <a:r>
              <a:rPr lang="en-US" sz="2400" dirty="0"/>
              <a:t>Six main verbs: summarize, </a:t>
            </a:r>
            <a:r>
              <a:rPr lang="en-US" sz="2400" dirty="0" err="1"/>
              <a:t>group_by</a:t>
            </a:r>
            <a:r>
              <a:rPr lang="en-US" sz="2400" dirty="0"/>
              <a:t>, mutate, filter, select and arrange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8297CA-9CC2-02D1-2CE1-9C9B880F4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3630" y="4980214"/>
            <a:ext cx="1442329" cy="1665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062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A96E8-6C33-2655-CC54-184A6DE23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6F1815BE-0450-7FA4-953B-94C32A8D8ABB}"/>
              </a:ext>
            </a:extLst>
          </p:cNvPr>
          <p:cNvSpPr/>
          <p:nvPr/>
        </p:nvSpPr>
        <p:spPr>
          <a:xfrm>
            <a:off x="11561186" y="58366"/>
            <a:ext cx="590144" cy="596630"/>
          </a:xfrm>
          <a:prstGeom prst="ellipse">
            <a:avLst/>
          </a:prstGeom>
          <a:solidFill>
            <a:srgbClr val="9F89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A54096F-F8ED-5EE6-3598-14F31F82C7BA}"/>
              </a:ext>
            </a:extLst>
          </p:cNvPr>
          <p:cNvSpPr/>
          <p:nvPr/>
        </p:nvSpPr>
        <p:spPr>
          <a:xfrm>
            <a:off x="11561186" y="716603"/>
            <a:ext cx="590144" cy="596630"/>
          </a:xfrm>
          <a:prstGeom prst="ellipse">
            <a:avLst/>
          </a:prstGeom>
          <a:solidFill>
            <a:srgbClr val="F26C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D50F33A-7878-6DC2-BF75-57DEECCE40DC}"/>
              </a:ext>
            </a:extLst>
          </p:cNvPr>
          <p:cNvSpPr/>
          <p:nvPr/>
        </p:nvSpPr>
        <p:spPr>
          <a:xfrm>
            <a:off x="11561186" y="1374840"/>
            <a:ext cx="590144" cy="596630"/>
          </a:xfrm>
          <a:prstGeom prst="ellipse">
            <a:avLst/>
          </a:prstGeom>
          <a:solidFill>
            <a:srgbClr val="3FA2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06869A3-91CE-00EB-5830-E3887BD3D8AA}"/>
              </a:ext>
            </a:extLst>
          </p:cNvPr>
          <p:cNvSpPr/>
          <p:nvPr/>
        </p:nvSpPr>
        <p:spPr>
          <a:xfrm>
            <a:off x="11561186" y="2033077"/>
            <a:ext cx="590144" cy="596630"/>
          </a:xfrm>
          <a:prstGeom prst="ellipse">
            <a:avLst/>
          </a:prstGeom>
          <a:solidFill>
            <a:srgbClr val="FFAC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C790BB2-EBCD-39EE-98FD-E3F7C7EA1999}"/>
              </a:ext>
            </a:extLst>
          </p:cNvPr>
          <p:cNvSpPr/>
          <p:nvPr/>
        </p:nvSpPr>
        <p:spPr>
          <a:xfrm>
            <a:off x="11561186" y="2691314"/>
            <a:ext cx="590144" cy="596630"/>
          </a:xfrm>
          <a:prstGeom prst="ellipse">
            <a:avLst/>
          </a:prstGeom>
          <a:solidFill>
            <a:srgbClr val="6CE4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001852-12E1-0D44-760D-02E91CEA0A07}"/>
              </a:ext>
            </a:extLst>
          </p:cNvPr>
          <p:cNvSpPr txBox="1"/>
          <p:nvPr/>
        </p:nvSpPr>
        <p:spPr>
          <a:xfrm>
            <a:off x="181584" y="131828"/>
            <a:ext cx="32207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5B4FBB"/>
                </a:solidFill>
              </a:rPr>
              <a:t>Data wrangling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442BD9-2786-5002-3B2D-48976906B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0025" y="5425041"/>
            <a:ext cx="1190338" cy="13748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9AFDB2B-6CC3-EB80-571E-9D537E014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204" y="961592"/>
            <a:ext cx="7099703" cy="25898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8945324-5D2E-6D14-0EFB-A4DBB9A07D48}"/>
              </a:ext>
            </a:extLst>
          </p:cNvPr>
          <p:cNvSpPr txBox="1"/>
          <p:nvPr/>
        </p:nvSpPr>
        <p:spPr>
          <a:xfrm>
            <a:off x="775143" y="4409378"/>
            <a:ext cx="6051657" cy="2031325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penguins %&gt;%  </a:t>
            </a:r>
          </a:p>
          <a:p>
            <a:r>
              <a:rPr lang="en-US" dirty="0"/>
              <a:t>    </a:t>
            </a:r>
            <a:r>
              <a:rPr lang="en-US" dirty="0" err="1"/>
              <a:t>drop_na</a:t>
            </a:r>
            <a:r>
              <a:rPr lang="en-US" dirty="0"/>
              <a:t>() %&gt;%  </a:t>
            </a:r>
          </a:p>
          <a:p>
            <a:r>
              <a:rPr lang="en-US" dirty="0"/>
              <a:t>    filter(sex == "female") %&gt;%  </a:t>
            </a:r>
          </a:p>
          <a:p>
            <a:r>
              <a:rPr lang="en-US" dirty="0"/>
              <a:t>    select(species, </a:t>
            </a:r>
            <a:r>
              <a:rPr lang="en-US" dirty="0" err="1"/>
              <a:t>bill_length_mm</a:t>
            </a:r>
            <a:r>
              <a:rPr lang="en-US" dirty="0"/>
              <a:t>, </a:t>
            </a:r>
            <a:r>
              <a:rPr lang="en-US" dirty="0" err="1"/>
              <a:t>bill_depth_mm</a:t>
            </a:r>
            <a:r>
              <a:rPr lang="en-US" dirty="0"/>
              <a:t>) %&gt;%  </a:t>
            </a:r>
          </a:p>
          <a:p>
            <a:r>
              <a:rPr lang="en-US" dirty="0"/>
              <a:t>    </a:t>
            </a:r>
            <a:r>
              <a:rPr lang="en-US" dirty="0" err="1"/>
              <a:t>group_by</a:t>
            </a:r>
            <a:r>
              <a:rPr lang="en-US" dirty="0"/>
              <a:t>(species) %&gt;%  </a:t>
            </a:r>
          </a:p>
          <a:p>
            <a:r>
              <a:rPr lang="en-US" dirty="0"/>
              <a:t>    mutate(</a:t>
            </a:r>
            <a:r>
              <a:rPr lang="en-US" dirty="0" err="1"/>
              <a:t>bill_ratio</a:t>
            </a:r>
            <a:r>
              <a:rPr lang="en-US" dirty="0"/>
              <a:t> = </a:t>
            </a:r>
            <a:r>
              <a:rPr lang="en-US" dirty="0" err="1"/>
              <a:t>bill_depth_mm</a:t>
            </a:r>
            <a:r>
              <a:rPr lang="en-US" dirty="0"/>
              <a:t>/</a:t>
            </a:r>
            <a:r>
              <a:rPr lang="en-US" dirty="0" err="1"/>
              <a:t>bill_length_mm</a:t>
            </a:r>
            <a:r>
              <a:rPr lang="en-US" dirty="0"/>
              <a:t>) %&gt;%  </a:t>
            </a:r>
          </a:p>
          <a:p>
            <a:r>
              <a:rPr lang="en-US" dirty="0"/>
              <a:t>    summarize(</a:t>
            </a:r>
            <a:r>
              <a:rPr lang="en-US" dirty="0" err="1"/>
              <a:t>avg_bill_female</a:t>
            </a:r>
            <a:r>
              <a:rPr lang="en-US" dirty="0"/>
              <a:t> = mean(</a:t>
            </a:r>
            <a:r>
              <a:rPr lang="en-US" dirty="0" err="1"/>
              <a:t>bill_ratio</a:t>
            </a:r>
            <a:r>
              <a:rPr lang="en-US" dirty="0"/>
              <a:t>))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6E1B9DA-625A-FBEB-1EC6-398C72A9AF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9994" y="3551464"/>
            <a:ext cx="2746737" cy="2055733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AD61E5DC-034A-0E30-9D72-8AE11CFF451E}"/>
              </a:ext>
            </a:extLst>
          </p:cNvPr>
          <p:cNvSpPr/>
          <p:nvPr/>
        </p:nvSpPr>
        <p:spPr>
          <a:xfrm rot="1953316">
            <a:off x="1791960" y="3747407"/>
            <a:ext cx="1122690" cy="359229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EE3E8138-E26A-19F8-663A-2E597D5A2B1D}"/>
              </a:ext>
            </a:extLst>
          </p:cNvPr>
          <p:cNvSpPr/>
          <p:nvPr/>
        </p:nvSpPr>
        <p:spPr>
          <a:xfrm rot="21200990">
            <a:off x="7044476" y="4841846"/>
            <a:ext cx="1297043" cy="394412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427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DF83AE31-FCF4-C677-B92D-5B267C653E04}"/>
              </a:ext>
            </a:extLst>
          </p:cNvPr>
          <p:cNvSpPr/>
          <p:nvPr/>
        </p:nvSpPr>
        <p:spPr>
          <a:xfrm>
            <a:off x="11561186" y="58366"/>
            <a:ext cx="590144" cy="596630"/>
          </a:xfrm>
          <a:prstGeom prst="ellipse">
            <a:avLst/>
          </a:prstGeom>
          <a:solidFill>
            <a:srgbClr val="9F89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A178E38-2105-D3BF-BDD3-B376D6F29328}"/>
              </a:ext>
            </a:extLst>
          </p:cNvPr>
          <p:cNvSpPr/>
          <p:nvPr/>
        </p:nvSpPr>
        <p:spPr>
          <a:xfrm>
            <a:off x="11561186" y="716603"/>
            <a:ext cx="590144" cy="596630"/>
          </a:xfrm>
          <a:prstGeom prst="ellipse">
            <a:avLst/>
          </a:prstGeom>
          <a:solidFill>
            <a:srgbClr val="F26C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53377A4-2819-5A74-BEE3-D687F17DA1EC}"/>
              </a:ext>
            </a:extLst>
          </p:cNvPr>
          <p:cNvSpPr/>
          <p:nvPr/>
        </p:nvSpPr>
        <p:spPr>
          <a:xfrm>
            <a:off x="11561186" y="1374840"/>
            <a:ext cx="590144" cy="596630"/>
          </a:xfrm>
          <a:prstGeom prst="ellipse">
            <a:avLst/>
          </a:prstGeom>
          <a:solidFill>
            <a:srgbClr val="3FA2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FE36D43-BF68-619E-23F5-369FB4AD9FEA}"/>
              </a:ext>
            </a:extLst>
          </p:cNvPr>
          <p:cNvSpPr/>
          <p:nvPr/>
        </p:nvSpPr>
        <p:spPr>
          <a:xfrm>
            <a:off x="11561186" y="2033077"/>
            <a:ext cx="590144" cy="596630"/>
          </a:xfrm>
          <a:prstGeom prst="ellipse">
            <a:avLst/>
          </a:prstGeom>
          <a:solidFill>
            <a:srgbClr val="FFAC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6CB6D4F-DC1C-4C0E-14BC-938665914FEF}"/>
              </a:ext>
            </a:extLst>
          </p:cNvPr>
          <p:cNvSpPr/>
          <p:nvPr/>
        </p:nvSpPr>
        <p:spPr>
          <a:xfrm>
            <a:off x="11561186" y="2691314"/>
            <a:ext cx="590144" cy="596630"/>
          </a:xfrm>
          <a:prstGeom prst="ellipse">
            <a:avLst/>
          </a:prstGeom>
          <a:solidFill>
            <a:srgbClr val="6CE4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FF05C5-9A26-AC83-813B-BB6D1B6A5229}"/>
              </a:ext>
            </a:extLst>
          </p:cNvPr>
          <p:cNvSpPr txBox="1"/>
          <p:nvPr/>
        </p:nvSpPr>
        <p:spPr>
          <a:xfrm>
            <a:off x="181584" y="131828"/>
            <a:ext cx="5360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5B4FBB"/>
                </a:solidFill>
              </a:rPr>
              <a:t>The Grammar of Graphics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13B44D-1B4D-7094-F915-C35A868D3B6F}"/>
              </a:ext>
            </a:extLst>
          </p:cNvPr>
          <p:cNvSpPr txBox="1"/>
          <p:nvPr/>
        </p:nvSpPr>
        <p:spPr>
          <a:xfrm>
            <a:off x="408561" y="1408062"/>
            <a:ext cx="996112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- A way of thinking about how graphs are constructed</a:t>
            </a:r>
          </a:p>
          <a:p>
            <a:endParaRPr lang="en-US" sz="2400" dirty="0"/>
          </a:p>
          <a:p>
            <a:pPr marL="285750" indent="-285750">
              <a:buFontTx/>
              <a:buChar char="-"/>
            </a:pPr>
            <a:r>
              <a:rPr lang="en-US" sz="2400" dirty="0"/>
              <a:t>In language grammar, sentences have different structures or components that are layered together</a:t>
            </a:r>
          </a:p>
          <a:p>
            <a:pPr marL="742950" lvl="1" indent="-285750">
              <a:buFontTx/>
              <a:buChar char="-"/>
            </a:pPr>
            <a:r>
              <a:rPr lang="en-US" sz="2400" dirty="0"/>
              <a:t>Nouns, verbs, pronouns, conjunctions, propositions, </a:t>
            </a:r>
            <a:r>
              <a:rPr lang="en-US" sz="2400" dirty="0" err="1"/>
              <a:t>etc</a:t>
            </a:r>
            <a:endParaRPr lang="en-US" sz="2400" dirty="0"/>
          </a:p>
          <a:p>
            <a:pPr marL="742950" lvl="1" indent="-285750">
              <a:buFontTx/>
              <a:buChar char="-"/>
            </a:pPr>
            <a:endParaRPr lang="en-US" sz="2400" dirty="0"/>
          </a:p>
          <a:p>
            <a:pPr marL="285750" lvl="1" indent="-285750">
              <a:buFontTx/>
              <a:buChar char="-"/>
            </a:pPr>
            <a:r>
              <a:rPr lang="en-US" sz="2400" dirty="0"/>
              <a:t>This is the same idea behind the grammar of graphs, a series of structures that together form the graph</a:t>
            </a:r>
          </a:p>
          <a:p>
            <a:pPr marL="285750" lvl="1" indent="-285750">
              <a:buFontTx/>
              <a:buChar char="-"/>
            </a:pPr>
            <a:endParaRPr lang="en-US" sz="2400" dirty="0"/>
          </a:p>
          <a:p>
            <a:pPr marL="285750" lvl="1" indent="-285750">
              <a:buFontTx/>
              <a:buChar char="-"/>
            </a:pPr>
            <a:r>
              <a:rPr lang="en-US" sz="2400" dirty="0"/>
              <a:t>This creates a highly customizable and powerful system</a:t>
            </a:r>
          </a:p>
          <a:p>
            <a:pPr marL="285750" lvl="1" indent="-285750">
              <a:buFontTx/>
              <a:buChar char="-"/>
            </a:pPr>
            <a:endParaRPr lang="en-US" sz="2400" dirty="0"/>
          </a:p>
          <a:p>
            <a:pPr marL="285750" lvl="1" indent="-285750">
              <a:buFontTx/>
              <a:buChar char="-"/>
            </a:pPr>
            <a:r>
              <a:rPr lang="en-US" sz="2400" dirty="0"/>
              <a:t>Why use code to create a figure? Reproducibility!</a:t>
            </a:r>
          </a:p>
        </p:txBody>
      </p:sp>
    </p:spTree>
    <p:extLst>
      <p:ext uri="{BB962C8B-B14F-4D97-AF65-F5344CB8AC3E}">
        <p14:creationId xmlns:p14="http://schemas.microsoft.com/office/powerpoint/2010/main" val="2304479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0FF0B-15DC-9B8D-3BA1-23C04B751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A067C2B6-5E80-9BC7-57B2-335045A40B14}"/>
              </a:ext>
            </a:extLst>
          </p:cNvPr>
          <p:cNvSpPr/>
          <p:nvPr/>
        </p:nvSpPr>
        <p:spPr>
          <a:xfrm>
            <a:off x="11561186" y="58366"/>
            <a:ext cx="590144" cy="596630"/>
          </a:xfrm>
          <a:prstGeom prst="ellipse">
            <a:avLst/>
          </a:prstGeom>
          <a:solidFill>
            <a:srgbClr val="9F89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805BBD2-DBBC-5950-ED89-F14E48C874B7}"/>
              </a:ext>
            </a:extLst>
          </p:cNvPr>
          <p:cNvSpPr/>
          <p:nvPr/>
        </p:nvSpPr>
        <p:spPr>
          <a:xfrm>
            <a:off x="11561186" y="716603"/>
            <a:ext cx="590144" cy="596630"/>
          </a:xfrm>
          <a:prstGeom prst="ellipse">
            <a:avLst/>
          </a:prstGeom>
          <a:solidFill>
            <a:srgbClr val="F26C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4DCA2C8-361D-44EF-821B-578EA57BD743}"/>
              </a:ext>
            </a:extLst>
          </p:cNvPr>
          <p:cNvSpPr/>
          <p:nvPr/>
        </p:nvSpPr>
        <p:spPr>
          <a:xfrm>
            <a:off x="11561186" y="1374840"/>
            <a:ext cx="590144" cy="596630"/>
          </a:xfrm>
          <a:prstGeom prst="ellipse">
            <a:avLst/>
          </a:prstGeom>
          <a:solidFill>
            <a:srgbClr val="3FA2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966FBDA-23E0-A8B9-93E0-FBA355823B55}"/>
              </a:ext>
            </a:extLst>
          </p:cNvPr>
          <p:cNvSpPr/>
          <p:nvPr/>
        </p:nvSpPr>
        <p:spPr>
          <a:xfrm>
            <a:off x="11561186" y="2033077"/>
            <a:ext cx="590144" cy="596630"/>
          </a:xfrm>
          <a:prstGeom prst="ellipse">
            <a:avLst/>
          </a:prstGeom>
          <a:solidFill>
            <a:srgbClr val="FFAC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7022108-9BC2-91BD-19C5-1050E5AE2230}"/>
              </a:ext>
            </a:extLst>
          </p:cNvPr>
          <p:cNvSpPr/>
          <p:nvPr/>
        </p:nvSpPr>
        <p:spPr>
          <a:xfrm>
            <a:off x="11561186" y="2691314"/>
            <a:ext cx="590144" cy="596630"/>
          </a:xfrm>
          <a:prstGeom prst="ellipse">
            <a:avLst/>
          </a:prstGeom>
          <a:solidFill>
            <a:srgbClr val="6CE4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81AC92-C299-ED13-545D-6A165AED581F}"/>
              </a:ext>
            </a:extLst>
          </p:cNvPr>
          <p:cNvSpPr txBox="1"/>
          <p:nvPr/>
        </p:nvSpPr>
        <p:spPr>
          <a:xfrm>
            <a:off x="181584" y="131828"/>
            <a:ext cx="5360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5B4FBB"/>
                </a:solidFill>
              </a:rPr>
              <a:t>The Grammar of Graphics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2CD434-BD19-2275-C4AF-65C691A159C5}"/>
              </a:ext>
            </a:extLst>
          </p:cNvPr>
          <p:cNvSpPr txBox="1"/>
          <p:nvPr/>
        </p:nvSpPr>
        <p:spPr>
          <a:xfrm>
            <a:off x="415046" y="1245934"/>
            <a:ext cx="1046696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000" dirty="0"/>
              <a:t>Ggplot2 graphs have 3 required layers (or structures) for any type of plot</a:t>
            </a:r>
          </a:p>
          <a:p>
            <a:pPr marL="342900" indent="-342900">
              <a:buFontTx/>
              <a:buChar char="-"/>
            </a:pPr>
            <a:endParaRPr lang="en-US" sz="2000" dirty="0"/>
          </a:p>
          <a:p>
            <a:pPr marL="800100" lvl="1" indent="-342900">
              <a:buFontTx/>
              <a:buChar char="-"/>
            </a:pPr>
            <a:r>
              <a:rPr lang="en-US" sz="2000" b="1" dirty="0"/>
              <a:t>Data</a:t>
            </a:r>
            <a:r>
              <a:rPr lang="en-US" sz="2000" dirty="0"/>
              <a:t>: a data frame (table) that contain the observations and variables we want to plot</a:t>
            </a:r>
          </a:p>
          <a:p>
            <a:pPr marL="800100" lvl="1" indent="-342900">
              <a:buFontTx/>
              <a:buChar char="-"/>
            </a:pPr>
            <a:endParaRPr lang="en-US" sz="2000" dirty="0"/>
          </a:p>
          <a:p>
            <a:endParaRPr lang="en-US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31F4A0-D2F1-C0E7-5C94-DD5C0503B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497" y="3429000"/>
            <a:ext cx="4525006" cy="24768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4E5CC54-8E70-0A3F-A14A-1711F6047B07}"/>
              </a:ext>
            </a:extLst>
          </p:cNvPr>
          <p:cNvSpPr txBox="1"/>
          <p:nvPr/>
        </p:nvSpPr>
        <p:spPr>
          <a:xfrm>
            <a:off x="5465058" y="6356840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ggplot</a:t>
            </a:r>
            <a:r>
              <a:rPr lang="en-US" dirty="0"/>
              <a:t>(iris,</a:t>
            </a:r>
          </a:p>
        </p:txBody>
      </p:sp>
    </p:spTree>
    <p:extLst>
      <p:ext uri="{BB962C8B-B14F-4D97-AF65-F5344CB8AC3E}">
        <p14:creationId xmlns:p14="http://schemas.microsoft.com/office/powerpoint/2010/main" val="756439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0BF96-7768-C687-ED37-E494CF4E0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1B131B54-DB1B-9659-767E-47D2A3A92D7B}"/>
              </a:ext>
            </a:extLst>
          </p:cNvPr>
          <p:cNvSpPr/>
          <p:nvPr/>
        </p:nvSpPr>
        <p:spPr>
          <a:xfrm>
            <a:off x="11561186" y="58366"/>
            <a:ext cx="590144" cy="596630"/>
          </a:xfrm>
          <a:prstGeom prst="ellipse">
            <a:avLst/>
          </a:prstGeom>
          <a:solidFill>
            <a:srgbClr val="9F89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4AE5C42-6B80-E363-8F24-60EA1EDCA6F5}"/>
              </a:ext>
            </a:extLst>
          </p:cNvPr>
          <p:cNvSpPr/>
          <p:nvPr/>
        </p:nvSpPr>
        <p:spPr>
          <a:xfrm>
            <a:off x="11561186" y="716603"/>
            <a:ext cx="590144" cy="596630"/>
          </a:xfrm>
          <a:prstGeom prst="ellipse">
            <a:avLst/>
          </a:prstGeom>
          <a:solidFill>
            <a:srgbClr val="F26C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42DE4EE-4C7F-F023-DE0C-92BDA5AFA333}"/>
              </a:ext>
            </a:extLst>
          </p:cNvPr>
          <p:cNvSpPr/>
          <p:nvPr/>
        </p:nvSpPr>
        <p:spPr>
          <a:xfrm>
            <a:off x="11561186" y="1374840"/>
            <a:ext cx="590144" cy="596630"/>
          </a:xfrm>
          <a:prstGeom prst="ellipse">
            <a:avLst/>
          </a:prstGeom>
          <a:solidFill>
            <a:srgbClr val="3FA2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F0AED3E-499A-01E5-3F12-EDB434DD1059}"/>
              </a:ext>
            </a:extLst>
          </p:cNvPr>
          <p:cNvSpPr/>
          <p:nvPr/>
        </p:nvSpPr>
        <p:spPr>
          <a:xfrm>
            <a:off x="11561186" y="2033077"/>
            <a:ext cx="590144" cy="596630"/>
          </a:xfrm>
          <a:prstGeom prst="ellipse">
            <a:avLst/>
          </a:prstGeom>
          <a:solidFill>
            <a:srgbClr val="FFAC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770B965-9BEA-FB8E-DB91-A7DC43C44F37}"/>
              </a:ext>
            </a:extLst>
          </p:cNvPr>
          <p:cNvSpPr/>
          <p:nvPr/>
        </p:nvSpPr>
        <p:spPr>
          <a:xfrm>
            <a:off x="11561186" y="2691314"/>
            <a:ext cx="590144" cy="596630"/>
          </a:xfrm>
          <a:prstGeom prst="ellipse">
            <a:avLst/>
          </a:prstGeom>
          <a:solidFill>
            <a:srgbClr val="6CE4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9E0E6B-527B-2B32-607E-987CFE2200E9}"/>
              </a:ext>
            </a:extLst>
          </p:cNvPr>
          <p:cNvSpPr txBox="1"/>
          <p:nvPr/>
        </p:nvSpPr>
        <p:spPr>
          <a:xfrm>
            <a:off x="181584" y="131828"/>
            <a:ext cx="5360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5B4FBB"/>
                </a:solidFill>
              </a:rPr>
              <a:t>The Grammar of Graphics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E8B9A0-211F-61FC-8DC9-F734FA41E961}"/>
              </a:ext>
            </a:extLst>
          </p:cNvPr>
          <p:cNvSpPr txBox="1"/>
          <p:nvPr/>
        </p:nvSpPr>
        <p:spPr>
          <a:xfrm>
            <a:off x="308866" y="1106213"/>
            <a:ext cx="1046696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000" dirty="0"/>
              <a:t>Ggplot2 graphs have 3 required layers (or structures) for any type of plot</a:t>
            </a:r>
          </a:p>
          <a:p>
            <a:pPr marL="342900" indent="-342900">
              <a:buFontTx/>
              <a:buChar char="-"/>
            </a:pPr>
            <a:endParaRPr lang="en-US" sz="2000" dirty="0"/>
          </a:p>
          <a:p>
            <a:pPr marL="800100" lvl="1" indent="-342900">
              <a:buFontTx/>
              <a:buChar char="-"/>
            </a:pPr>
            <a:r>
              <a:rPr lang="en-US" sz="2000" b="1" dirty="0">
                <a:solidFill>
                  <a:schemeClr val="bg1">
                    <a:lumMod val="85000"/>
                  </a:schemeClr>
                </a:solidFill>
              </a:rPr>
              <a:t>Data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: a data frame (table) that contain the observations and variables we want to plot</a:t>
            </a:r>
          </a:p>
          <a:p>
            <a:pPr marL="800100" lvl="1" indent="-342900">
              <a:buFontTx/>
              <a:buChar char="-"/>
            </a:pPr>
            <a:endParaRPr lang="en-US" sz="2000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1" indent="-342900">
              <a:buFontTx/>
              <a:buChar char="-"/>
            </a:pPr>
            <a:r>
              <a:rPr lang="en-US" sz="2000" b="1" dirty="0"/>
              <a:t>Aesthetic: </a:t>
            </a:r>
            <a:r>
              <a:rPr lang="en-US" sz="2000" dirty="0"/>
              <a:t>the mapping of our variables of interest (the x and y axis, for example)</a:t>
            </a:r>
          </a:p>
          <a:p>
            <a:pPr marL="800100" lvl="1" indent="-342900">
              <a:buFontTx/>
              <a:buChar char="-"/>
            </a:pPr>
            <a:endParaRPr lang="en-US" sz="2000" dirty="0"/>
          </a:p>
          <a:p>
            <a:endParaRPr lang="en-US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5C9CC3-D17A-07F7-5633-10C2199FA1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59"/>
          <a:stretch>
            <a:fillRect/>
          </a:stretch>
        </p:blipFill>
        <p:spPr>
          <a:xfrm>
            <a:off x="3635173" y="3287944"/>
            <a:ext cx="4921654" cy="28712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DBAEEC9-3173-2137-E026-1C1DB52D1F87}"/>
              </a:ext>
            </a:extLst>
          </p:cNvPr>
          <p:cNvSpPr txBox="1"/>
          <p:nvPr/>
        </p:nvSpPr>
        <p:spPr>
          <a:xfrm>
            <a:off x="3524655" y="6356840"/>
            <a:ext cx="5198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ggplot</a:t>
            </a:r>
            <a:r>
              <a:rPr lang="en-US" dirty="0"/>
              <a:t>(iris, </a:t>
            </a:r>
            <a:r>
              <a:rPr lang="en-US" dirty="0" err="1"/>
              <a:t>aes</a:t>
            </a:r>
            <a:r>
              <a:rPr lang="en-US" dirty="0"/>
              <a:t>(x = </a:t>
            </a:r>
            <a:r>
              <a:rPr lang="en-US" dirty="0" err="1"/>
              <a:t>Sepal.Length</a:t>
            </a:r>
            <a:r>
              <a:rPr lang="en-US" dirty="0"/>
              <a:t>, y = </a:t>
            </a:r>
            <a:r>
              <a:rPr lang="en-US" dirty="0" err="1"/>
              <a:t>Sepal.Width</a:t>
            </a:r>
            <a:r>
              <a:rPr lang="en-US" dirty="0"/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836471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1388D-2401-AA5C-10F1-2B7E40641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8E57392B-0F62-2B9E-AF06-1EA3A4175795}"/>
              </a:ext>
            </a:extLst>
          </p:cNvPr>
          <p:cNvSpPr/>
          <p:nvPr/>
        </p:nvSpPr>
        <p:spPr>
          <a:xfrm>
            <a:off x="11561186" y="58366"/>
            <a:ext cx="590144" cy="596630"/>
          </a:xfrm>
          <a:prstGeom prst="ellipse">
            <a:avLst/>
          </a:prstGeom>
          <a:solidFill>
            <a:srgbClr val="9F89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2B9D776-4ACC-ED65-9DC3-418DFF76A3FF}"/>
              </a:ext>
            </a:extLst>
          </p:cNvPr>
          <p:cNvSpPr/>
          <p:nvPr/>
        </p:nvSpPr>
        <p:spPr>
          <a:xfrm>
            <a:off x="11561186" y="716603"/>
            <a:ext cx="590144" cy="596630"/>
          </a:xfrm>
          <a:prstGeom prst="ellipse">
            <a:avLst/>
          </a:prstGeom>
          <a:solidFill>
            <a:srgbClr val="F26C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60AD3AC-36E3-FA1D-FB88-056FB4191547}"/>
              </a:ext>
            </a:extLst>
          </p:cNvPr>
          <p:cNvSpPr/>
          <p:nvPr/>
        </p:nvSpPr>
        <p:spPr>
          <a:xfrm>
            <a:off x="11561186" y="1374840"/>
            <a:ext cx="590144" cy="596630"/>
          </a:xfrm>
          <a:prstGeom prst="ellipse">
            <a:avLst/>
          </a:prstGeom>
          <a:solidFill>
            <a:srgbClr val="3FA2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BE103D6-CC52-1CBB-071F-8B0BF4496412}"/>
              </a:ext>
            </a:extLst>
          </p:cNvPr>
          <p:cNvSpPr/>
          <p:nvPr/>
        </p:nvSpPr>
        <p:spPr>
          <a:xfrm>
            <a:off x="11561186" y="2033077"/>
            <a:ext cx="590144" cy="596630"/>
          </a:xfrm>
          <a:prstGeom prst="ellipse">
            <a:avLst/>
          </a:prstGeom>
          <a:solidFill>
            <a:srgbClr val="FFAC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8877FC0-0B96-C622-349A-0F5451B6A201}"/>
              </a:ext>
            </a:extLst>
          </p:cNvPr>
          <p:cNvSpPr/>
          <p:nvPr/>
        </p:nvSpPr>
        <p:spPr>
          <a:xfrm>
            <a:off x="11561186" y="2691314"/>
            <a:ext cx="590144" cy="596630"/>
          </a:xfrm>
          <a:prstGeom prst="ellipse">
            <a:avLst/>
          </a:prstGeom>
          <a:solidFill>
            <a:srgbClr val="6CE4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E36E0A-42BF-C50D-9E36-BF1418A6765C}"/>
              </a:ext>
            </a:extLst>
          </p:cNvPr>
          <p:cNvSpPr txBox="1"/>
          <p:nvPr/>
        </p:nvSpPr>
        <p:spPr>
          <a:xfrm>
            <a:off x="181584" y="131828"/>
            <a:ext cx="5360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5B4FBB"/>
                </a:solidFill>
              </a:rPr>
              <a:t>The Grammar of Graphics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8F7CC9-680B-864F-D13A-77090AAE254E}"/>
              </a:ext>
            </a:extLst>
          </p:cNvPr>
          <p:cNvSpPr txBox="1"/>
          <p:nvPr/>
        </p:nvSpPr>
        <p:spPr>
          <a:xfrm>
            <a:off x="466927" y="1014918"/>
            <a:ext cx="1046696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000" dirty="0"/>
              <a:t>Ggplot2 graphs have 3 required layers (or structures) for any type of plot</a:t>
            </a:r>
          </a:p>
          <a:p>
            <a:pPr marL="342900" indent="-342900">
              <a:buFontTx/>
              <a:buChar char="-"/>
            </a:pPr>
            <a:endParaRPr lang="en-US" sz="2000" dirty="0"/>
          </a:p>
          <a:p>
            <a:pPr marL="800100" lvl="1" indent="-342900">
              <a:buFontTx/>
              <a:buChar char="-"/>
            </a:pPr>
            <a:r>
              <a:rPr lang="en-US" sz="2000" b="1" dirty="0">
                <a:solidFill>
                  <a:schemeClr val="bg1">
                    <a:lumMod val="85000"/>
                  </a:schemeClr>
                </a:solidFill>
              </a:rPr>
              <a:t>Data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: a data frame (table) that contain the observations and variables we want to plot</a:t>
            </a:r>
          </a:p>
          <a:p>
            <a:pPr marL="800100" lvl="1" indent="-342900">
              <a:buFontTx/>
              <a:buChar char="-"/>
            </a:pPr>
            <a:endParaRPr lang="en-US" sz="2000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1" indent="-342900">
              <a:buFontTx/>
              <a:buChar char="-"/>
            </a:pPr>
            <a:r>
              <a:rPr lang="en-US" sz="2000" b="1" dirty="0">
                <a:solidFill>
                  <a:schemeClr val="bg1">
                    <a:lumMod val="85000"/>
                  </a:schemeClr>
                </a:solidFill>
              </a:rPr>
              <a:t>Aesthetic: 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the mapping of our variables of interest (the x and y axis, for example)</a:t>
            </a:r>
          </a:p>
          <a:p>
            <a:pPr marL="800100" lvl="1" indent="-342900">
              <a:buFontTx/>
              <a:buChar char="-"/>
            </a:pPr>
            <a:endParaRPr lang="en-US" sz="2000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1" indent="-342900">
              <a:buFontTx/>
              <a:buChar char="-"/>
            </a:pPr>
            <a:r>
              <a:rPr lang="en-US" sz="2000" b="1" dirty="0"/>
              <a:t>Geometry: </a:t>
            </a:r>
            <a:r>
              <a:rPr lang="en-US" sz="2000" dirty="0"/>
              <a:t>the type or shape of the visual elements of the graph (for example, bars or points)</a:t>
            </a:r>
          </a:p>
          <a:p>
            <a:endParaRPr lang="en-US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4D2BB1E-8AC8-E0A8-0D4F-220DE30B6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058" y="3429000"/>
            <a:ext cx="4679883" cy="262771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A8D3AB1-A50F-6C59-BE4E-E27B0B77FDAF}"/>
              </a:ext>
            </a:extLst>
          </p:cNvPr>
          <p:cNvSpPr txBox="1"/>
          <p:nvPr/>
        </p:nvSpPr>
        <p:spPr>
          <a:xfrm>
            <a:off x="3443703" y="6211669"/>
            <a:ext cx="53831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ggplot</a:t>
            </a:r>
            <a:r>
              <a:rPr lang="en-US" dirty="0"/>
              <a:t>(iris, </a:t>
            </a:r>
            <a:r>
              <a:rPr lang="en-US" dirty="0" err="1"/>
              <a:t>aes</a:t>
            </a:r>
            <a:r>
              <a:rPr lang="en-US" dirty="0"/>
              <a:t>(x = </a:t>
            </a:r>
            <a:r>
              <a:rPr lang="en-US" dirty="0" err="1"/>
              <a:t>Sepal.Length</a:t>
            </a:r>
            <a:r>
              <a:rPr lang="en-US" dirty="0"/>
              <a:t>, y = </a:t>
            </a:r>
            <a:r>
              <a:rPr lang="en-US" dirty="0" err="1"/>
              <a:t>Sepal.Width</a:t>
            </a:r>
            <a:r>
              <a:rPr lang="en-US" dirty="0"/>
              <a:t>)) +</a:t>
            </a:r>
          </a:p>
          <a:p>
            <a:r>
              <a:rPr lang="en-US" dirty="0"/>
              <a:t>          </a:t>
            </a:r>
            <a:r>
              <a:rPr lang="en-US" dirty="0" err="1"/>
              <a:t>geom_point</a:t>
            </a:r>
            <a:r>
              <a:rPr lang="en-US" dirty="0"/>
              <a:t>( )</a:t>
            </a:r>
          </a:p>
        </p:txBody>
      </p:sp>
    </p:spTree>
    <p:extLst>
      <p:ext uri="{BB962C8B-B14F-4D97-AF65-F5344CB8AC3E}">
        <p14:creationId xmlns:p14="http://schemas.microsoft.com/office/powerpoint/2010/main" val="1120019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1031A-B44D-F66D-EC18-C9A41A053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1C1D0905-012A-9B80-D1AE-D38A2B5DE927}"/>
              </a:ext>
            </a:extLst>
          </p:cNvPr>
          <p:cNvSpPr/>
          <p:nvPr/>
        </p:nvSpPr>
        <p:spPr>
          <a:xfrm>
            <a:off x="11561186" y="58366"/>
            <a:ext cx="590144" cy="596630"/>
          </a:xfrm>
          <a:prstGeom prst="ellipse">
            <a:avLst/>
          </a:prstGeom>
          <a:solidFill>
            <a:srgbClr val="9F89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957207E-4BAC-BB1D-43F6-A302E85B7FA5}"/>
              </a:ext>
            </a:extLst>
          </p:cNvPr>
          <p:cNvSpPr/>
          <p:nvPr/>
        </p:nvSpPr>
        <p:spPr>
          <a:xfrm>
            <a:off x="11561186" y="716603"/>
            <a:ext cx="590144" cy="596630"/>
          </a:xfrm>
          <a:prstGeom prst="ellipse">
            <a:avLst/>
          </a:prstGeom>
          <a:solidFill>
            <a:srgbClr val="F26C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1F02E77-A9DA-E2C8-27CE-8D9C9BDE3DEB}"/>
              </a:ext>
            </a:extLst>
          </p:cNvPr>
          <p:cNvSpPr/>
          <p:nvPr/>
        </p:nvSpPr>
        <p:spPr>
          <a:xfrm>
            <a:off x="11561186" y="1374840"/>
            <a:ext cx="590144" cy="596630"/>
          </a:xfrm>
          <a:prstGeom prst="ellipse">
            <a:avLst/>
          </a:prstGeom>
          <a:solidFill>
            <a:srgbClr val="3FA2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44DBD3E-0280-7D09-81CB-E9C2CDC8B565}"/>
              </a:ext>
            </a:extLst>
          </p:cNvPr>
          <p:cNvSpPr/>
          <p:nvPr/>
        </p:nvSpPr>
        <p:spPr>
          <a:xfrm>
            <a:off x="11561186" y="2033077"/>
            <a:ext cx="590144" cy="596630"/>
          </a:xfrm>
          <a:prstGeom prst="ellipse">
            <a:avLst/>
          </a:prstGeom>
          <a:solidFill>
            <a:srgbClr val="FFAC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CA1BB22-73BB-D85A-7E48-018699D2B720}"/>
              </a:ext>
            </a:extLst>
          </p:cNvPr>
          <p:cNvSpPr/>
          <p:nvPr/>
        </p:nvSpPr>
        <p:spPr>
          <a:xfrm>
            <a:off x="11561186" y="2691314"/>
            <a:ext cx="590144" cy="596630"/>
          </a:xfrm>
          <a:prstGeom prst="ellipse">
            <a:avLst/>
          </a:prstGeom>
          <a:solidFill>
            <a:srgbClr val="6CE4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795BAF-9CE5-1FD5-1E31-9DC52229F4A6}"/>
              </a:ext>
            </a:extLst>
          </p:cNvPr>
          <p:cNvSpPr txBox="1"/>
          <p:nvPr/>
        </p:nvSpPr>
        <p:spPr>
          <a:xfrm>
            <a:off x="181584" y="131828"/>
            <a:ext cx="5360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5B4FBB"/>
                </a:solidFill>
              </a:rPr>
              <a:t>The Grammar of Graphics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53206A-BC0C-0D62-E0EA-4BCB03DDFC42}"/>
              </a:ext>
            </a:extLst>
          </p:cNvPr>
          <p:cNvSpPr txBox="1"/>
          <p:nvPr/>
        </p:nvSpPr>
        <p:spPr>
          <a:xfrm>
            <a:off x="440986" y="921547"/>
            <a:ext cx="1046696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400" dirty="0"/>
              <a:t>Ggplot2 graphs have 3 required layers (or structures) for any type of plot</a:t>
            </a:r>
          </a:p>
          <a:p>
            <a:pPr marL="342900" indent="-342900">
              <a:buFontTx/>
              <a:buChar char="-"/>
            </a:pPr>
            <a:endParaRPr lang="en-US" sz="2400" dirty="0"/>
          </a:p>
          <a:p>
            <a:pPr marL="800100" lvl="1" indent="-342900">
              <a:buFontTx/>
              <a:buChar char="-"/>
            </a:pPr>
            <a:r>
              <a:rPr lang="en-US" sz="2400" b="1" dirty="0">
                <a:solidFill>
                  <a:srgbClr val="F26C73"/>
                </a:solidFill>
              </a:rPr>
              <a:t>Data: </a:t>
            </a:r>
            <a:r>
              <a:rPr lang="en-US" sz="2400" dirty="0"/>
              <a:t>a data frame (table) that contain the observations and variables we want to plot</a:t>
            </a:r>
          </a:p>
          <a:p>
            <a:pPr marL="800100" lvl="1" indent="-342900">
              <a:buFontTx/>
              <a:buChar char="-"/>
            </a:pPr>
            <a:r>
              <a:rPr lang="en-US" sz="2400" b="1" dirty="0">
                <a:solidFill>
                  <a:srgbClr val="3FA2F7"/>
                </a:solidFill>
              </a:rPr>
              <a:t>Aesthetic: </a:t>
            </a:r>
            <a:r>
              <a:rPr lang="en-US" sz="2400" dirty="0"/>
              <a:t>the mapping of our variables of interest (the x and y axis, for example)</a:t>
            </a:r>
          </a:p>
          <a:p>
            <a:pPr marL="800100" lvl="1" indent="-342900">
              <a:buFontTx/>
              <a:buChar char="-"/>
            </a:pPr>
            <a:r>
              <a:rPr lang="en-US" sz="2400" b="1" dirty="0">
                <a:solidFill>
                  <a:srgbClr val="FFAC7A"/>
                </a:solidFill>
              </a:rPr>
              <a:t>Geometry: </a:t>
            </a:r>
            <a:r>
              <a:rPr lang="en-US" sz="2400" dirty="0"/>
              <a:t>the type or shape of the visual elements of the graph (for example, bars or points)</a:t>
            </a:r>
          </a:p>
          <a:p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B06550-3F38-9030-C848-34F5C1BE9F8B}"/>
              </a:ext>
            </a:extLst>
          </p:cNvPr>
          <p:cNvSpPr txBox="1"/>
          <p:nvPr/>
        </p:nvSpPr>
        <p:spPr>
          <a:xfrm>
            <a:off x="2018537" y="4830341"/>
            <a:ext cx="815492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ggplot</a:t>
            </a:r>
            <a:r>
              <a:rPr lang="en-US" sz="2800" dirty="0"/>
              <a:t>(</a:t>
            </a:r>
            <a:r>
              <a:rPr lang="en-US" sz="2800" b="1" dirty="0">
                <a:solidFill>
                  <a:srgbClr val="F26C73"/>
                </a:solidFill>
              </a:rPr>
              <a:t>iris</a:t>
            </a:r>
            <a:r>
              <a:rPr lang="en-US" sz="2800" dirty="0"/>
              <a:t>, </a:t>
            </a:r>
            <a:r>
              <a:rPr lang="en-US" sz="2800" b="1" dirty="0" err="1">
                <a:solidFill>
                  <a:srgbClr val="3FA2F7"/>
                </a:solidFill>
              </a:rPr>
              <a:t>aes</a:t>
            </a:r>
            <a:r>
              <a:rPr lang="en-US" sz="2800" b="1" dirty="0">
                <a:solidFill>
                  <a:srgbClr val="3FA2F7"/>
                </a:solidFill>
              </a:rPr>
              <a:t>(x = </a:t>
            </a:r>
            <a:r>
              <a:rPr lang="en-US" sz="2800" b="1" dirty="0" err="1">
                <a:solidFill>
                  <a:srgbClr val="3FA2F7"/>
                </a:solidFill>
              </a:rPr>
              <a:t>Sepal.Length</a:t>
            </a:r>
            <a:r>
              <a:rPr lang="en-US" sz="2800" b="1" dirty="0">
                <a:solidFill>
                  <a:srgbClr val="3FA2F7"/>
                </a:solidFill>
              </a:rPr>
              <a:t>, y = </a:t>
            </a:r>
            <a:r>
              <a:rPr lang="en-US" sz="2800" b="1" dirty="0" err="1">
                <a:solidFill>
                  <a:srgbClr val="3FA2F7"/>
                </a:solidFill>
              </a:rPr>
              <a:t>Sepal.Width</a:t>
            </a:r>
            <a:r>
              <a:rPr lang="en-US" sz="2800" b="1" dirty="0">
                <a:solidFill>
                  <a:srgbClr val="3FA2F7"/>
                </a:solidFill>
              </a:rPr>
              <a:t>)</a:t>
            </a:r>
            <a:r>
              <a:rPr lang="en-US" sz="2800" dirty="0"/>
              <a:t>)+</a:t>
            </a:r>
          </a:p>
          <a:p>
            <a:r>
              <a:rPr lang="en-US" sz="2800" dirty="0"/>
              <a:t>          </a:t>
            </a:r>
            <a:r>
              <a:rPr lang="en-US" sz="2800" b="1" dirty="0" err="1">
                <a:solidFill>
                  <a:srgbClr val="FFAC7A"/>
                </a:solidFill>
              </a:rPr>
              <a:t>geom_point</a:t>
            </a:r>
            <a:r>
              <a:rPr lang="en-US" sz="2800" b="1" dirty="0">
                <a:solidFill>
                  <a:srgbClr val="FFAC7A"/>
                </a:solidFill>
              </a:rPr>
              <a:t>( )</a:t>
            </a:r>
          </a:p>
        </p:txBody>
      </p:sp>
    </p:spTree>
    <p:extLst>
      <p:ext uri="{BB962C8B-B14F-4D97-AF65-F5344CB8AC3E}">
        <p14:creationId xmlns:p14="http://schemas.microsoft.com/office/powerpoint/2010/main" val="4172805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FA174-F65D-BF4C-08AD-B3D8CA928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92187536-04CE-0CAE-EAEB-D2A4181E4D7C}"/>
              </a:ext>
            </a:extLst>
          </p:cNvPr>
          <p:cNvSpPr/>
          <p:nvPr/>
        </p:nvSpPr>
        <p:spPr>
          <a:xfrm>
            <a:off x="11561186" y="58366"/>
            <a:ext cx="590144" cy="596630"/>
          </a:xfrm>
          <a:prstGeom prst="ellipse">
            <a:avLst/>
          </a:prstGeom>
          <a:solidFill>
            <a:srgbClr val="9F89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4512268-0AD4-5E86-A7CF-D889D6DF118D}"/>
              </a:ext>
            </a:extLst>
          </p:cNvPr>
          <p:cNvSpPr/>
          <p:nvPr/>
        </p:nvSpPr>
        <p:spPr>
          <a:xfrm>
            <a:off x="11561186" y="716603"/>
            <a:ext cx="590144" cy="596630"/>
          </a:xfrm>
          <a:prstGeom prst="ellipse">
            <a:avLst/>
          </a:prstGeom>
          <a:solidFill>
            <a:srgbClr val="F26C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1C9766E-C9B4-20A1-8FD5-D1B7495DE096}"/>
              </a:ext>
            </a:extLst>
          </p:cNvPr>
          <p:cNvSpPr/>
          <p:nvPr/>
        </p:nvSpPr>
        <p:spPr>
          <a:xfrm>
            <a:off x="11561186" y="1374840"/>
            <a:ext cx="590144" cy="596630"/>
          </a:xfrm>
          <a:prstGeom prst="ellipse">
            <a:avLst/>
          </a:prstGeom>
          <a:solidFill>
            <a:srgbClr val="3FA2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83F6344-8686-EA28-F255-C28EE95F3B45}"/>
              </a:ext>
            </a:extLst>
          </p:cNvPr>
          <p:cNvSpPr/>
          <p:nvPr/>
        </p:nvSpPr>
        <p:spPr>
          <a:xfrm>
            <a:off x="11561186" y="2033077"/>
            <a:ext cx="590144" cy="596630"/>
          </a:xfrm>
          <a:prstGeom prst="ellipse">
            <a:avLst/>
          </a:prstGeom>
          <a:solidFill>
            <a:srgbClr val="FFAC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6BFDAAE-A835-08A4-6867-68D5E8ED6D01}"/>
              </a:ext>
            </a:extLst>
          </p:cNvPr>
          <p:cNvSpPr/>
          <p:nvPr/>
        </p:nvSpPr>
        <p:spPr>
          <a:xfrm>
            <a:off x="11561186" y="2691314"/>
            <a:ext cx="590144" cy="596630"/>
          </a:xfrm>
          <a:prstGeom prst="ellipse">
            <a:avLst/>
          </a:prstGeom>
          <a:solidFill>
            <a:srgbClr val="6CE4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DA8F07-3455-81FB-F3A8-661D2FBAAF9E}"/>
              </a:ext>
            </a:extLst>
          </p:cNvPr>
          <p:cNvSpPr txBox="1"/>
          <p:nvPr/>
        </p:nvSpPr>
        <p:spPr>
          <a:xfrm>
            <a:off x="181584" y="131828"/>
            <a:ext cx="5360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5B4FBB"/>
                </a:solidFill>
              </a:rPr>
              <a:t>The Grammar of Graphics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D7BD25-E41A-E9B0-963E-6A4A68665F7F}"/>
              </a:ext>
            </a:extLst>
          </p:cNvPr>
          <p:cNvSpPr txBox="1"/>
          <p:nvPr/>
        </p:nvSpPr>
        <p:spPr>
          <a:xfrm>
            <a:off x="440986" y="921547"/>
            <a:ext cx="104669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- There are other elements that can be added to make modifications to how data or other elements appear in the plot</a:t>
            </a:r>
          </a:p>
          <a:p>
            <a:pPr marL="342900" indent="-342900">
              <a:buFontTx/>
              <a:buChar char="-"/>
            </a:pPr>
            <a:endParaRPr lang="en-US" sz="2400" dirty="0"/>
          </a:p>
          <a:p>
            <a:pPr marL="800100" lvl="1" indent="-342900">
              <a:buFontTx/>
              <a:buChar char="-"/>
            </a:pPr>
            <a:r>
              <a:rPr lang="en-US" sz="2400" b="1" dirty="0">
                <a:solidFill>
                  <a:srgbClr val="6CE4B4"/>
                </a:solidFill>
              </a:rPr>
              <a:t>Scales: </a:t>
            </a:r>
            <a:r>
              <a:rPr lang="en-US" sz="2400" dirty="0"/>
              <a:t>can be used to adjust axis coordinates, add color to geometry structures, etc.</a:t>
            </a:r>
          </a:p>
          <a:p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934EA2-DEB9-1098-0B8B-085E14CE7D95}"/>
              </a:ext>
            </a:extLst>
          </p:cNvPr>
          <p:cNvSpPr txBox="1"/>
          <p:nvPr/>
        </p:nvSpPr>
        <p:spPr>
          <a:xfrm>
            <a:off x="2582346" y="5525843"/>
            <a:ext cx="702730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ggplot</a:t>
            </a:r>
            <a:r>
              <a:rPr lang="en-US" sz="2400" dirty="0"/>
              <a:t>(</a:t>
            </a:r>
            <a:r>
              <a:rPr lang="en-US" sz="2400" b="1" dirty="0">
                <a:solidFill>
                  <a:srgbClr val="F26C73"/>
                </a:solidFill>
              </a:rPr>
              <a:t>iris</a:t>
            </a:r>
            <a:r>
              <a:rPr lang="en-US" sz="2400" dirty="0"/>
              <a:t>, </a:t>
            </a:r>
            <a:r>
              <a:rPr lang="en-US" sz="2400" b="1" dirty="0" err="1">
                <a:solidFill>
                  <a:srgbClr val="3FA2F7"/>
                </a:solidFill>
              </a:rPr>
              <a:t>aes</a:t>
            </a:r>
            <a:r>
              <a:rPr lang="en-US" sz="2400" b="1" dirty="0">
                <a:solidFill>
                  <a:srgbClr val="3FA2F7"/>
                </a:solidFill>
              </a:rPr>
              <a:t>(x = </a:t>
            </a:r>
            <a:r>
              <a:rPr lang="en-US" sz="2400" b="1" dirty="0" err="1">
                <a:solidFill>
                  <a:srgbClr val="3FA2F7"/>
                </a:solidFill>
              </a:rPr>
              <a:t>Sepal.Length</a:t>
            </a:r>
            <a:r>
              <a:rPr lang="en-US" sz="2400" b="1" dirty="0">
                <a:solidFill>
                  <a:srgbClr val="3FA2F7"/>
                </a:solidFill>
              </a:rPr>
              <a:t>, y = </a:t>
            </a:r>
            <a:r>
              <a:rPr lang="en-US" sz="2400" b="1" dirty="0" err="1">
                <a:solidFill>
                  <a:srgbClr val="3FA2F7"/>
                </a:solidFill>
              </a:rPr>
              <a:t>Sepal.Width</a:t>
            </a:r>
            <a:r>
              <a:rPr lang="en-US" sz="2400" b="1" dirty="0">
                <a:solidFill>
                  <a:srgbClr val="3FA2F7"/>
                </a:solidFill>
              </a:rPr>
              <a:t>)</a:t>
            </a:r>
            <a:r>
              <a:rPr lang="en-US" sz="2400" dirty="0"/>
              <a:t>)+</a:t>
            </a:r>
          </a:p>
          <a:p>
            <a:r>
              <a:rPr lang="en-US" sz="2400" dirty="0"/>
              <a:t>          </a:t>
            </a:r>
            <a:r>
              <a:rPr lang="en-US" sz="2400" b="1" dirty="0" err="1">
                <a:solidFill>
                  <a:srgbClr val="FFAC7A"/>
                </a:solidFill>
              </a:rPr>
              <a:t>geom_point</a:t>
            </a:r>
            <a:r>
              <a:rPr lang="en-US" sz="2400" b="1" dirty="0">
                <a:solidFill>
                  <a:srgbClr val="FFAC7A"/>
                </a:solidFill>
              </a:rPr>
              <a:t>( ) </a:t>
            </a:r>
            <a:r>
              <a:rPr lang="en-US" sz="2400" b="1" dirty="0"/>
              <a:t>+</a:t>
            </a:r>
          </a:p>
          <a:p>
            <a:r>
              <a:rPr lang="en-US" sz="2400" b="1" dirty="0">
                <a:solidFill>
                  <a:srgbClr val="FFAC7A"/>
                </a:solidFill>
              </a:rPr>
              <a:t>	</a:t>
            </a:r>
            <a:r>
              <a:rPr lang="en-US" sz="2400" b="1" dirty="0" err="1">
                <a:solidFill>
                  <a:srgbClr val="6CE4B4"/>
                </a:solidFill>
              </a:rPr>
              <a:t>scale_x_binned</a:t>
            </a:r>
            <a:r>
              <a:rPr lang="en-US" sz="2400" b="1" dirty="0">
                <a:solidFill>
                  <a:srgbClr val="6CE4B4"/>
                </a:solidFill>
              </a:rPr>
              <a:t>( 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D2E00D-75EA-EF16-60F5-53F7F2AB2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213" y="2894140"/>
            <a:ext cx="4541807" cy="2349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777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59EBD-DC20-54F4-226C-25FA56A91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AD198778-32C9-9AA7-21E7-83DE2A121ACC}"/>
              </a:ext>
            </a:extLst>
          </p:cNvPr>
          <p:cNvSpPr/>
          <p:nvPr/>
        </p:nvSpPr>
        <p:spPr>
          <a:xfrm>
            <a:off x="11561186" y="58366"/>
            <a:ext cx="590144" cy="596630"/>
          </a:xfrm>
          <a:prstGeom prst="ellipse">
            <a:avLst/>
          </a:prstGeom>
          <a:solidFill>
            <a:srgbClr val="9F89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190A538-6033-F117-40FC-650C01EDB6F6}"/>
              </a:ext>
            </a:extLst>
          </p:cNvPr>
          <p:cNvSpPr/>
          <p:nvPr/>
        </p:nvSpPr>
        <p:spPr>
          <a:xfrm>
            <a:off x="11561186" y="716603"/>
            <a:ext cx="590144" cy="596630"/>
          </a:xfrm>
          <a:prstGeom prst="ellipse">
            <a:avLst/>
          </a:prstGeom>
          <a:solidFill>
            <a:srgbClr val="F26C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24503F8-95E7-C9DE-138C-757D45D6C18C}"/>
              </a:ext>
            </a:extLst>
          </p:cNvPr>
          <p:cNvSpPr/>
          <p:nvPr/>
        </p:nvSpPr>
        <p:spPr>
          <a:xfrm>
            <a:off x="11561186" y="1374840"/>
            <a:ext cx="590144" cy="596630"/>
          </a:xfrm>
          <a:prstGeom prst="ellipse">
            <a:avLst/>
          </a:prstGeom>
          <a:solidFill>
            <a:srgbClr val="3FA2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B312E39-8954-EFE0-32AD-2E4A38884918}"/>
              </a:ext>
            </a:extLst>
          </p:cNvPr>
          <p:cNvSpPr/>
          <p:nvPr/>
        </p:nvSpPr>
        <p:spPr>
          <a:xfrm>
            <a:off x="11561186" y="2033077"/>
            <a:ext cx="590144" cy="596630"/>
          </a:xfrm>
          <a:prstGeom prst="ellipse">
            <a:avLst/>
          </a:prstGeom>
          <a:solidFill>
            <a:srgbClr val="FFAC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0D24E4A-4E86-E637-C50E-577A914464B7}"/>
              </a:ext>
            </a:extLst>
          </p:cNvPr>
          <p:cNvSpPr/>
          <p:nvPr/>
        </p:nvSpPr>
        <p:spPr>
          <a:xfrm>
            <a:off x="11561186" y="2691314"/>
            <a:ext cx="590144" cy="596630"/>
          </a:xfrm>
          <a:prstGeom prst="ellipse">
            <a:avLst/>
          </a:prstGeom>
          <a:solidFill>
            <a:srgbClr val="6CE4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84EF2D-EFA7-51CE-D744-ABE6A9FE4F8F}"/>
              </a:ext>
            </a:extLst>
          </p:cNvPr>
          <p:cNvSpPr txBox="1"/>
          <p:nvPr/>
        </p:nvSpPr>
        <p:spPr>
          <a:xfrm>
            <a:off x="181584" y="131828"/>
            <a:ext cx="5360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5B4FBB"/>
                </a:solidFill>
              </a:rPr>
              <a:t>The Grammar of Graphics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422526-DA5B-8191-7133-75CEDC31F54F}"/>
              </a:ext>
            </a:extLst>
          </p:cNvPr>
          <p:cNvSpPr txBox="1"/>
          <p:nvPr/>
        </p:nvSpPr>
        <p:spPr>
          <a:xfrm>
            <a:off x="421530" y="876152"/>
            <a:ext cx="1046696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- There are other elements that can be added to make modifications to how data or other elements appear in the plot</a:t>
            </a:r>
          </a:p>
          <a:p>
            <a:pPr marL="342900" indent="-342900">
              <a:buFontTx/>
              <a:buChar char="-"/>
            </a:pPr>
            <a:endParaRPr lang="en-US" sz="2400" dirty="0"/>
          </a:p>
          <a:p>
            <a:pPr marL="800100" lvl="1" indent="-342900">
              <a:buFontTx/>
              <a:buChar char="-"/>
            </a:pPr>
            <a:r>
              <a:rPr lang="en-US" sz="2400" b="1" dirty="0">
                <a:solidFill>
                  <a:srgbClr val="6CE4B4"/>
                </a:solidFill>
              </a:rPr>
              <a:t>Scales: </a:t>
            </a:r>
            <a:r>
              <a:rPr lang="en-US" sz="2400" dirty="0"/>
              <a:t>can be used to adjust axis coordinates, add color to geometry structures, etc.</a:t>
            </a:r>
          </a:p>
          <a:p>
            <a:pPr marL="800100" lvl="1" indent="-342900">
              <a:buFontTx/>
              <a:buChar char="-"/>
            </a:pPr>
            <a:r>
              <a:rPr lang="en-US" sz="2400" b="1" dirty="0">
                <a:solidFill>
                  <a:srgbClr val="9F89ED"/>
                </a:solidFill>
              </a:rPr>
              <a:t>Themes: </a:t>
            </a:r>
            <a:r>
              <a:rPr lang="en-US" sz="2400" dirty="0"/>
              <a:t>change and control non-data display elements</a:t>
            </a:r>
          </a:p>
          <a:p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18CB11-5274-A9A1-FE66-5EB31D11D237}"/>
              </a:ext>
            </a:extLst>
          </p:cNvPr>
          <p:cNvSpPr txBox="1"/>
          <p:nvPr/>
        </p:nvSpPr>
        <p:spPr>
          <a:xfrm>
            <a:off x="3157375" y="5534561"/>
            <a:ext cx="587725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ggplot</a:t>
            </a:r>
            <a:r>
              <a:rPr lang="en-US" sz="2000" dirty="0"/>
              <a:t>(</a:t>
            </a:r>
            <a:r>
              <a:rPr lang="en-US" sz="2000" b="1" dirty="0">
                <a:solidFill>
                  <a:srgbClr val="F26C73"/>
                </a:solidFill>
              </a:rPr>
              <a:t>iris</a:t>
            </a:r>
            <a:r>
              <a:rPr lang="en-US" sz="2000" dirty="0"/>
              <a:t>, </a:t>
            </a:r>
            <a:r>
              <a:rPr lang="en-US" sz="2000" b="1" dirty="0" err="1">
                <a:solidFill>
                  <a:srgbClr val="3FA2F7"/>
                </a:solidFill>
              </a:rPr>
              <a:t>aes</a:t>
            </a:r>
            <a:r>
              <a:rPr lang="en-US" sz="2000" b="1" dirty="0">
                <a:solidFill>
                  <a:srgbClr val="3FA2F7"/>
                </a:solidFill>
              </a:rPr>
              <a:t>(x = </a:t>
            </a:r>
            <a:r>
              <a:rPr lang="en-US" sz="2000" b="1" dirty="0" err="1">
                <a:solidFill>
                  <a:srgbClr val="3FA2F7"/>
                </a:solidFill>
              </a:rPr>
              <a:t>Sepal.Length</a:t>
            </a:r>
            <a:r>
              <a:rPr lang="en-US" sz="2000" b="1" dirty="0">
                <a:solidFill>
                  <a:srgbClr val="3FA2F7"/>
                </a:solidFill>
              </a:rPr>
              <a:t>, y = </a:t>
            </a:r>
            <a:r>
              <a:rPr lang="en-US" sz="2000" b="1" dirty="0" err="1">
                <a:solidFill>
                  <a:srgbClr val="3FA2F7"/>
                </a:solidFill>
              </a:rPr>
              <a:t>Sepal.Width</a:t>
            </a:r>
            <a:r>
              <a:rPr lang="en-US" sz="2000" b="1" dirty="0">
                <a:solidFill>
                  <a:srgbClr val="3FA2F7"/>
                </a:solidFill>
              </a:rPr>
              <a:t>)</a:t>
            </a:r>
            <a:r>
              <a:rPr lang="en-US" sz="2000" dirty="0"/>
              <a:t>)+</a:t>
            </a:r>
          </a:p>
          <a:p>
            <a:r>
              <a:rPr lang="en-US" sz="2000" dirty="0"/>
              <a:t>          </a:t>
            </a:r>
            <a:r>
              <a:rPr lang="en-US" sz="2000" b="1" dirty="0" err="1">
                <a:solidFill>
                  <a:srgbClr val="FFAC7A"/>
                </a:solidFill>
              </a:rPr>
              <a:t>geom_point</a:t>
            </a:r>
            <a:r>
              <a:rPr lang="en-US" sz="2000" b="1" dirty="0">
                <a:solidFill>
                  <a:srgbClr val="FFAC7A"/>
                </a:solidFill>
              </a:rPr>
              <a:t>( ) </a:t>
            </a:r>
            <a:r>
              <a:rPr lang="en-US" sz="2000" b="1" dirty="0"/>
              <a:t>+</a:t>
            </a:r>
          </a:p>
          <a:p>
            <a:r>
              <a:rPr lang="en-US" sz="2000" b="1" dirty="0">
                <a:solidFill>
                  <a:srgbClr val="FFAC7A"/>
                </a:solidFill>
              </a:rPr>
              <a:t>	</a:t>
            </a:r>
            <a:r>
              <a:rPr lang="en-US" sz="2000" b="1" dirty="0" err="1">
                <a:solidFill>
                  <a:srgbClr val="6CE4B4"/>
                </a:solidFill>
              </a:rPr>
              <a:t>scale_x_binned</a:t>
            </a:r>
            <a:r>
              <a:rPr lang="en-US" sz="2000" b="1" dirty="0">
                <a:solidFill>
                  <a:srgbClr val="6CE4B4"/>
                </a:solidFill>
              </a:rPr>
              <a:t>( ) </a:t>
            </a:r>
            <a:r>
              <a:rPr lang="en-US" sz="2000" b="1" dirty="0"/>
              <a:t>+</a:t>
            </a:r>
          </a:p>
          <a:p>
            <a:r>
              <a:rPr lang="en-US" sz="2000" b="1" dirty="0">
                <a:solidFill>
                  <a:srgbClr val="9F89ED"/>
                </a:solidFill>
              </a:rPr>
              <a:t>	</a:t>
            </a:r>
            <a:r>
              <a:rPr lang="en-US" sz="2000" b="1" dirty="0" err="1">
                <a:solidFill>
                  <a:srgbClr val="9F89ED"/>
                </a:solidFill>
              </a:rPr>
              <a:t>theme_classic</a:t>
            </a:r>
            <a:r>
              <a:rPr lang="en-US" sz="2000" b="1" dirty="0">
                <a:solidFill>
                  <a:srgbClr val="9F89ED"/>
                </a:solidFill>
              </a:rPr>
              <a:t>( 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A4CE57-2679-762F-CE21-716DF7463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591" y="3429000"/>
            <a:ext cx="4386818" cy="2036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93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B30EC-B347-D8D2-94A4-DC2DCE7C2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9B54C94-E39F-26D2-EAB6-D1645BE1337C}"/>
              </a:ext>
            </a:extLst>
          </p:cNvPr>
          <p:cNvSpPr/>
          <p:nvPr/>
        </p:nvSpPr>
        <p:spPr>
          <a:xfrm>
            <a:off x="11561186" y="58366"/>
            <a:ext cx="590144" cy="596630"/>
          </a:xfrm>
          <a:prstGeom prst="ellipse">
            <a:avLst/>
          </a:prstGeom>
          <a:solidFill>
            <a:srgbClr val="9F89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2BBFE10-0EC2-BE2F-E461-187E6636AB97}"/>
              </a:ext>
            </a:extLst>
          </p:cNvPr>
          <p:cNvSpPr/>
          <p:nvPr/>
        </p:nvSpPr>
        <p:spPr>
          <a:xfrm>
            <a:off x="11561186" y="716603"/>
            <a:ext cx="590144" cy="596630"/>
          </a:xfrm>
          <a:prstGeom prst="ellipse">
            <a:avLst/>
          </a:prstGeom>
          <a:solidFill>
            <a:srgbClr val="F26C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6F8185A-05EB-445C-0B2E-EEBE6BCCAE0C}"/>
              </a:ext>
            </a:extLst>
          </p:cNvPr>
          <p:cNvSpPr/>
          <p:nvPr/>
        </p:nvSpPr>
        <p:spPr>
          <a:xfrm>
            <a:off x="11561186" y="1374840"/>
            <a:ext cx="590144" cy="596630"/>
          </a:xfrm>
          <a:prstGeom prst="ellipse">
            <a:avLst/>
          </a:prstGeom>
          <a:solidFill>
            <a:srgbClr val="3FA2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7B126AC-645C-AE41-DF80-53EC4BC08CA5}"/>
              </a:ext>
            </a:extLst>
          </p:cNvPr>
          <p:cNvSpPr/>
          <p:nvPr/>
        </p:nvSpPr>
        <p:spPr>
          <a:xfrm>
            <a:off x="11561186" y="2033077"/>
            <a:ext cx="590144" cy="596630"/>
          </a:xfrm>
          <a:prstGeom prst="ellipse">
            <a:avLst/>
          </a:prstGeom>
          <a:solidFill>
            <a:srgbClr val="FFAC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D3D4A66-6D2A-151E-1362-92A2584252FA}"/>
              </a:ext>
            </a:extLst>
          </p:cNvPr>
          <p:cNvSpPr/>
          <p:nvPr/>
        </p:nvSpPr>
        <p:spPr>
          <a:xfrm>
            <a:off x="11561186" y="2691314"/>
            <a:ext cx="590144" cy="596630"/>
          </a:xfrm>
          <a:prstGeom prst="ellipse">
            <a:avLst/>
          </a:prstGeom>
          <a:solidFill>
            <a:srgbClr val="6CE4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FFD271-736C-FFE5-9EAC-368FA0DE5421}"/>
              </a:ext>
            </a:extLst>
          </p:cNvPr>
          <p:cNvSpPr txBox="1"/>
          <p:nvPr/>
        </p:nvSpPr>
        <p:spPr>
          <a:xfrm>
            <a:off x="181584" y="131828"/>
            <a:ext cx="22044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5B4FBB"/>
                </a:solidFill>
              </a:rPr>
              <a:t>Workshop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62A030-682E-17A2-9119-B325638B5E88}"/>
              </a:ext>
            </a:extLst>
          </p:cNvPr>
          <p:cNvSpPr txBox="1"/>
          <p:nvPr/>
        </p:nvSpPr>
        <p:spPr>
          <a:xfrm>
            <a:off x="460441" y="856697"/>
            <a:ext cx="1046696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pPr marL="342900" indent="-342900">
              <a:buFontTx/>
              <a:buChar char="-"/>
            </a:pPr>
            <a:r>
              <a:rPr lang="en-US" sz="2400" dirty="0"/>
              <a:t>Here we will use RStudio for interfacing with R</a:t>
            </a:r>
          </a:p>
          <a:p>
            <a:pPr marL="342900" indent="-342900">
              <a:buFontTx/>
              <a:buChar char="-"/>
            </a:pPr>
            <a:endParaRPr lang="en-US" sz="2400" dirty="0"/>
          </a:p>
          <a:p>
            <a:pPr marL="342900" indent="-342900">
              <a:buFontTx/>
              <a:buChar char="-"/>
            </a:pPr>
            <a:r>
              <a:rPr lang="en-US" sz="2400" dirty="0"/>
              <a:t>We will use the “penguins” dataset from the </a:t>
            </a:r>
            <a:r>
              <a:rPr lang="en-US" sz="2400" dirty="0" err="1"/>
              <a:t>palmerpenguins</a:t>
            </a:r>
            <a:r>
              <a:rPr lang="en-US" sz="2400" dirty="0"/>
              <a:t> package. It has </a:t>
            </a:r>
            <a:r>
              <a:rPr lang="en-US" sz="2400" b="1" dirty="0"/>
              <a:t>continuous</a:t>
            </a:r>
            <a:r>
              <a:rPr lang="en-US" sz="2400" dirty="0"/>
              <a:t> and </a:t>
            </a:r>
            <a:r>
              <a:rPr lang="en-US" sz="2400" b="1" dirty="0"/>
              <a:t>categorical</a:t>
            </a:r>
            <a:r>
              <a:rPr lang="en-US" sz="2400" dirty="0"/>
              <a:t> variables.</a:t>
            </a:r>
          </a:p>
          <a:p>
            <a:pPr marL="342900" indent="-342900">
              <a:buFontTx/>
              <a:buChar char="-"/>
            </a:pPr>
            <a:endParaRPr lang="en-US" sz="2400" dirty="0"/>
          </a:p>
          <a:p>
            <a:pPr marL="342900" indent="-342900">
              <a:buFontTx/>
              <a:buChar char="-"/>
            </a:pPr>
            <a:r>
              <a:rPr lang="en-US" sz="2400" dirty="0"/>
              <a:t>We will learn how to make scatter plots, histograms, bar plots, and box plots. </a:t>
            </a:r>
          </a:p>
          <a:p>
            <a:pPr marL="342900" indent="-342900">
              <a:buFontTx/>
              <a:buChar char="-"/>
            </a:pPr>
            <a:endParaRPr lang="en-US" sz="2400" dirty="0"/>
          </a:p>
          <a:p>
            <a:pPr marL="342900" indent="-342900">
              <a:buFontTx/>
              <a:buChar char="-"/>
            </a:pPr>
            <a:r>
              <a:rPr lang="en-US" sz="2400" dirty="0"/>
              <a:t>We will also learn how to change different aspects of our plots. </a:t>
            </a:r>
          </a:p>
          <a:p>
            <a:pPr marL="342900" indent="-342900">
              <a:buFontTx/>
              <a:buChar char="-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46895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E3C32-E345-F905-8176-856E2E7F7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3CB25BF-CDC3-5B2F-F53D-FC8C06391693}"/>
              </a:ext>
            </a:extLst>
          </p:cNvPr>
          <p:cNvSpPr/>
          <p:nvPr/>
        </p:nvSpPr>
        <p:spPr>
          <a:xfrm>
            <a:off x="11561186" y="58366"/>
            <a:ext cx="590144" cy="596630"/>
          </a:xfrm>
          <a:prstGeom prst="ellipse">
            <a:avLst/>
          </a:prstGeom>
          <a:solidFill>
            <a:srgbClr val="9F89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0D7E3E9-3F71-D586-81DE-CCBFB29EC8C2}"/>
              </a:ext>
            </a:extLst>
          </p:cNvPr>
          <p:cNvSpPr/>
          <p:nvPr/>
        </p:nvSpPr>
        <p:spPr>
          <a:xfrm>
            <a:off x="11561186" y="716603"/>
            <a:ext cx="590144" cy="596630"/>
          </a:xfrm>
          <a:prstGeom prst="ellipse">
            <a:avLst/>
          </a:prstGeom>
          <a:solidFill>
            <a:srgbClr val="F26C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1513DAD-D701-247A-7199-B7DFF87ECF10}"/>
              </a:ext>
            </a:extLst>
          </p:cNvPr>
          <p:cNvSpPr/>
          <p:nvPr/>
        </p:nvSpPr>
        <p:spPr>
          <a:xfrm>
            <a:off x="11561186" y="1374840"/>
            <a:ext cx="590144" cy="596630"/>
          </a:xfrm>
          <a:prstGeom prst="ellipse">
            <a:avLst/>
          </a:prstGeom>
          <a:solidFill>
            <a:srgbClr val="3FA2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5B2CF1C-6B04-E03D-B490-BE380B5620EF}"/>
              </a:ext>
            </a:extLst>
          </p:cNvPr>
          <p:cNvSpPr/>
          <p:nvPr/>
        </p:nvSpPr>
        <p:spPr>
          <a:xfrm>
            <a:off x="11561186" y="2033077"/>
            <a:ext cx="590144" cy="596630"/>
          </a:xfrm>
          <a:prstGeom prst="ellipse">
            <a:avLst/>
          </a:prstGeom>
          <a:solidFill>
            <a:srgbClr val="FFAC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C21F22D-C1D9-A5BB-49AF-D838DF2F7CBE}"/>
              </a:ext>
            </a:extLst>
          </p:cNvPr>
          <p:cNvSpPr/>
          <p:nvPr/>
        </p:nvSpPr>
        <p:spPr>
          <a:xfrm>
            <a:off x="11561186" y="2691314"/>
            <a:ext cx="590144" cy="596630"/>
          </a:xfrm>
          <a:prstGeom prst="ellipse">
            <a:avLst/>
          </a:prstGeom>
          <a:solidFill>
            <a:srgbClr val="6CE4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1C60C9-6D54-57ED-DE3B-5F37C9680C47}"/>
              </a:ext>
            </a:extLst>
          </p:cNvPr>
          <p:cNvSpPr txBox="1"/>
          <p:nvPr/>
        </p:nvSpPr>
        <p:spPr>
          <a:xfrm>
            <a:off x="181584" y="131828"/>
            <a:ext cx="37433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5B4FBB"/>
                </a:solidFill>
              </a:rPr>
              <a:t>Useful Resources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D007E5-0150-5CC5-95FF-8F31F53CED79}"/>
              </a:ext>
            </a:extLst>
          </p:cNvPr>
          <p:cNvSpPr txBox="1"/>
          <p:nvPr/>
        </p:nvSpPr>
        <p:spPr>
          <a:xfrm>
            <a:off x="460441" y="856697"/>
            <a:ext cx="1046696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pPr marL="342900" indent="-342900">
              <a:buFontTx/>
              <a:buChar char="-"/>
            </a:pPr>
            <a:r>
              <a:rPr lang="en-US" sz="2400" dirty="0"/>
              <a:t>R install: </a:t>
            </a:r>
            <a:r>
              <a:rPr lang="en-US" sz="2400" dirty="0">
                <a:hlinkClick r:id="rId2"/>
              </a:rPr>
              <a:t>https://cran.r-project.org/</a:t>
            </a:r>
            <a:endParaRPr lang="en-US" sz="2400" dirty="0"/>
          </a:p>
          <a:p>
            <a:pPr marL="342900" indent="-342900">
              <a:buFontTx/>
              <a:buChar char="-"/>
            </a:pPr>
            <a:r>
              <a:rPr lang="en-US" sz="2400" dirty="0"/>
              <a:t>RStudio install: </a:t>
            </a:r>
            <a:r>
              <a:rPr lang="en-US" sz="2400" dirty="0">
                <a:hlinkClick r:id="rId3"/>
              </a:rPr>
              <a:t>https://posit.co/download/rstudio-desktop/</a:t>
            </a:r>
            <a:endParaRPr lang="en-US" sz="2400" dirty="0"/>
          </a:p>
          <a:p>
            <a:pPr marL="342900" indent="-342900">
              <a:buFontTx/>
              <a:buChar char="-"/>
            </a:pPr>
            <a:endParaRPr lang="en-US" sz="2400" dirty="0"/>
          </a:p>
          <a:p>
            <a:pPr marL="342900" indent="-342900">
              <a:buFontTx/>
              <a:buChar char="-"/>
            </a:pPr>
            <a:r>
              <a:rPr lang="en-US" sz="2400" dirty="0"/>
              <a:t>The R Graph Gallery: </a:t>
            </a:r>
            <a:r>
              <a:rPr lang="en-US" sz="2400" dirty="0">
                <a:hlinkClick r:id="rId4"/>
              </a:rPr>
              <a:t>https://r-graph-gallery.com/</a:t>
            </a:r>
            <a:endParaRPr lang="en-US" sz="2400" dirty="0"/>
          </a:p>
          <a:p>
            <a:pPr marL="342900" indent="-342900">
              <a:buFontTx/>
              <a:buChar char="-"/>
            </a:pPr>
            <a:r>
              <a:rPr lang="en-US" sz="2400" dirty="0"/>
              <a:t>Data to Viz: </a:t>
            </a:r>
            <a:r>
              <a:rPr lang="en-US" sz="2400" dirty="0">
                <a:hlinkClick r:id="rId5"/>
              </a:rPr>
              <a:t>https://www.data-to-viz.com/</a:t>
            </a:r>
            <a:endParaRPr lang="en-US" sz="2400" dirty="0"/>
          </a:p>
          <a:p>
            <a:pPr marL="342900" indent="-342900">
              <a:buFontTx/>
              <a:buChar char="-"/>
            </a:pPr>
            <a:endParaRPr lang="en-US" sz="2400" dirty="0"/>
          </a:p>
          <a:p>
            <a:pPr marL="342900" indent="-342900">
              <a:buFontTx/>
              <a:buChar char="-"/>
            </a:pPr>
            <a:r>
              <a:rPr lang="en-US" sz="2400" dirty="0" err="1"/>
              <a:t>ggplot</a:t>
            </a:r>
            <a:r>
              <a:rPr lang="en-US" sz="2400" dirty="0"/>
              <a:t> vignettes: </a:t>
            </a:r>
            <a:r>
              <a:rPr lang="en-US" sz="2400" dirty="0">
                <a:hlinkClick r:id="rId6"/>
              </a:rPr>
              <a:t>https://ggplot2.tidyverse.org/articles/ggplot2.html</a:t>
            </a:r>
            <a:endParaRPr lang="en-US" sz="2400" dirty="0"/>
          </a:p>
          <a:p>
            <a:pPr marL="342900" indent="-342900">
              <a:buFontTx/>
              <a:buChar char="-"/>
            </a:pPr>
            <a:r>
              <a:rPr lang="en-US" sz="2400" dirty="0" err="1"/>
              <a:t>ggplot</a:t>
            </a:r>
            <a:r>
              <a:rPr lang="en-US" sz="2400" dirty="0"/>
              <a:t> cheat sheet: </a:t>
            </a:r>
            <a:r>
              <a:rPr lang="en-US" sz="2400" dirty="0">
                <a:hlinkClick r:id="rId7"/>
              </a:rPr>
              <a:t>https://posit.co/wp-content/uploads/2022/10/data-visualization-1.pdf</a:t>
            </a:r>
            <a:endParaRPr lang="en-US" sz="2400" dirty="0"/>
          </a:p>
          <a:p>
            <a:pPr marL="342900" indent="-342900">
              <a:buFontTx/>
              <a:buChar char="-"/>
            </a:pPr>
            <a:endParaRPr lang="en-US" sz="2400" dirty="0"/>
          </a:p>
          <a:p>
            <a:pPr marL="342900" indent="-342900">
              <a:buFontTx/>
              <a:buChar char="-"/>
            </a:pPr>
            <a:r>
              <a:rPr lang="en-US" sz="2400" dirty="0"/>
              <a:t>R for Data Science: </a:t>
            </a:r>
            <a:r>
              <a:rPr lang="en-US" sz="2400" dirty="0">
                <a:hlinkClick r:id="rId8"/>
              </a:rPr>
              <a:t>https://r4ds.hadley.nz/</a:t>
            </a:r>
            <a:endParaRPr lang="en-US" sz="2400" dirty="0"/>
          </a:p>
          <a:p>
            <a:pPr marL="342900" indent="-342900">
              <a:buFontTx/>
              <a:buChar char="-"/>
            </a:pPr>
            <a:r>
              <a:rPr lang="en-US" sz="2400" dirty="0"/>
              <a:t>Data Visualization: A Practical Introduction </a:t>
            </a:r>
            <a:r>
              <a:rPr lang="en-US" sz="2400" dirty="0">
                <a:hlinkClick r:id="rId9"/>
              </a:rPr>
              <a:t>https://socviz.co/</a:t>
            </a:r>
            <a:endParaRPr lang="en-US" sz="2400" dirty="0"/>
          </a:p>
          <a:p>
            <a:pPr marL="342900" indent="-342900">
              <a:buFontTx/>
              <a:buChar char="-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94341535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2154</TotalTime>
  <Words>956</Words>
  <Application>Microsoft Office PowerPoint</Application>
  <PresentationFormat>Widescreen</PresentationFormat>
  <Paragraphs>107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Grandview Display</vt:lpstr>
      <vt:lpstr>DashVTI</vt:lpstr>
      <vt:lpstr>Data wrangling and visualization with 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reviewer</dc:creator>
  <cp:lastModifiedBy>reviewer</cp:lastModifiedBy>
  <cp:revision>9</cp:revision>
  <dcterms:created xsi:type="dcterms:W3CDTF">2025-09-22T19:03:22Z</dcterms:created>
  <dcterms:modified xsi:type="dcterms:W3CDTF">2026-09-30T14:03:30Z</dcterms:modified>
</cp:coreProperties>
</file>